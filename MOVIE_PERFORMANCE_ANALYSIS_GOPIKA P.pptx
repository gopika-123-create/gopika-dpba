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5"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Growth Index</c:v>
                </c:pt>
              </c:strCache>
            </c:strRef>
          </c:tx>
          <c:spPr>
            <a:ln w="38100" cap="flat">
              <a:solidFill>
                <a:srgbClr val="F59E0B"/>
              </a:solidFill>
              <a:prstDash val="solid"/>
              <a:round/>
            </a:ln>
            <a:effectLst/>
          </c:spPr>
          <c:marker>
            <c:symbol val="circle"/>
            <c:size val="6"/>
            <c:spPr>
              <a:solidFill>
                <a:srgbClr val="F59E0B"/>
              </a:solidFill>
              <a:ln w="9525" cap="flat">
                <a:solidFill>
                  <a:srgbClr val="F59E0B"/>
                </a:solidFill>
                <a:prstDash val="solid"/>
                <a:round/>
              </a:ln>
              <a:effectLst/>
            </c:spPr>
          </c:marker>
          <c:cat>
            <c:strRef>
              <c:f>Sheet1!$A$2:$A$15</c:f>
              <c:strCache>
                <c:ptCount val="14"/>
                <c:pt idx="0">
                  <c:v>1900</c:v>
                </c:pt>
                <c:pt idx="1">
                  <c:v>1920</c:v>
                </c:pt>
                <c:pt idx="2">
                  <c:v>1940</c:v>
                </c:pt>
                <c:pt idx="3">
                  <c:v>1960</c:v>
                </c:pt>
                <c:pt idx="4">
                  <c:v>1970</c:v>
                </c:pt>
                <c:pt idx="5">
                  <c:v>1980</c:v>
                </c:pt>
                <c:pt idx="6">
                  <c:v>1990</c:v>
                </c:pt>
                <c:pt idx="7">
                  <c:v>1995</c:v>
                </c:pt>
                <c:pt idx="8">
                  <c:v>2000</c:v>
                </c:pt>
                <c:pt idx="9">
                  <c:v>2005</c:v>
                </c:pt>
                <c:pt idx="10">
                  <c:v>2010</c:v>
                </c:pt>
                <c:pt idx="11">
                  <c:v>2015</c:v>
                </c:pt>
                <c:pt idx="12">
                  <c:v>2020</c:v>
                </c:pt>
                <c:pt idx="13">
                  <c:v>2023</c:v>
                </c:pt>
              </c:strCache>
            </c:strRef>
          </c:cat>
          <c:val>
            <c:numRef>
              <c:f>Sheet1!$B$2:$B$15</c:f>
              <c:numCache>
                <c:formatCode>General</c:formatCode>
                <c:ptCount val="14"/>
                <c:pt idx="0">
                  <c:v>0.2</c:v>
                </c:pt>
                <c:pt idx="1">
                  <c:v>0.8</c:v>
                </c:pt>
                <c:pt idx="2">
                  <c:v>3</c:v>
                </c:pt>
                <c:pt idx="3">
                  <c:v>7</c:v>
                </c:pt>
                <c:pt idx="4">
                  <c:v>15</c:v>
                </c:pt>
                <c:pt idx="5">
                  <c:v>28</c:v>
                </c:pt>
                <c:pt idx="6">
                  <c:v>52</c:v>
                </c:pt>
                <c:pt idx="7">
                  <c:v>68</c:v>
                </c:pt>
                <c:pt idx="8">
                  <c:v>88</c:v>
                </c:pt>
                <c:pt idx="9">
                  <c:v>100</c:v>
                </c:pt>
                <c:pt idx="10">
                  <c:v>96</c:v>
                </c:pt>
                <c:pt idx="11">
                  <c:v>90</c:v>
                </c:pt>
                <c:pt idx="12">
                  <c:v>58</c:v>
                </c:pt>
                <c:pt idx="13">
                  <c:v>78</c:v>
                </c:pt>
              </c:numCache>
            </c:numRef>
          </c:val>
          <c:smooth val="1"/>
          <c:extLst>
            <c:ext xmlns:c16="http://schemas.microsoft.com/office/drawing/2014/chart" uri="{C3380CC4-5D6E-409C-BE32-E72D297353CC}">
              <c16:uniqueId val="{00000000-3860-4476-8AA6-BB0EFBDEFAB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7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solidFill>
      <a:srgbClr val="1A555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 Share</c:v>
                </c:pt>
              </c:strCache>
            </c:strRef>
          </c:tx>
          <c:spPr>
            <a:solidFill>
              <a:schemeClr val="accent1"/>
            </a:solidFill>
            <a:ln w="9525" cap="flat">
              <a:solidFill>
                <a:srgbClr val="F9F9F9"/>
              </a:solidFill>
              <a:prstDash val="solid"/>
              <a:round/>
            </a:ln>
            <a:effectLst/>
          </c:spPr>
          <c:dPt>
            <c:idx val="0"/>
            <c:bubble3D val="0"/>
            <c:spPr>
              <a:solidFill>
                <a:srgbClr val="F59E0B"/>
              </a:solidFill>
              <a:effectLst/>
            </c:spPr>
            <c:extLst>
              <c:ext xmlns:c16="http://schemas.microsoft.com/office/drawing/2014/chart" uri="{C3380CC4-5D6E-409C-BE32-E72D297353CC}">
                <c16:uniqueId val="{00000001-BBA1-4C49-BF55-66D457F705F4}"/>
              </c:ext>
            </c:extLst>
          </c:dPt>
          <c:dPt>
            <c:idx val="1"/>
            <c:bubble3D val="0"/>
            <c:spPr>
              <a:solidFill>
                <a:srgbClr val="C084FC"/>
              </a:solidFill>
              <a:effectLst/>
            </c:spPr>
            <c:extLst>
              <c:ext xmlns:c16="http://schemas.microsoft.com/office/drawing/2014/chart" uri="{C3380CC4-5D6E-409C-BE32-E72D297353CC}">
                <c16:uniqueId val="{00000003-BBA1-4C49-BF55-66D457F705F4}"/>
              </c:ext>
            </c:extLst>
          </c:dPt>
          <c:dPt>
            <c:idx val="2"/>
            <c:bubble3D val="0"/>
            <c:spPr>
              <a:solidFill>
                <a:srgbClr val="10B981"/>
              </a:solidFill>
              <a:effectLst/>
            </c:spPr>
            <c:extLst>
              <c:ext xmlns:c16="http://schemas.microsoft.com/office/drawing/2014/chart" uri="{C3380CC4-5D6E-409C-BE32-E72D297353CC}">
                <c16:uniqueId val="{00000005-BBA1-4C49-BF55-66D457F705F4}"/>
              </c:ext>
            </c:extLst>
          </c:dPt>
          <c:dPt>
            <c:idx val="3"/>
            <c:bubble3D val="0"/>
            <c:spPr>
              <a:solidFill>
                <a:srgbClr val="3B82F6"/>
              </a:solidFill>
              <a:effectLst/>
            </c:spPr>
            <c:extLst>
              <c:ext xmlns:c16="http://schemas.microsoft.com/office/drawing/2014/chart" uri="{C3380CC4-5D6E-409C-BE32-E72D297353CC}">
                <c16:uniqueId val="{00000007-BBA1-4C49-BF55-66D457F705F4}"/>
              </c:ext>
            </c:extLst>
          </c:dPt>
          <c:dPt>
            <c:idx val="4"/>
            <c:bubble3D val="0"/>
            <c:spPr>
              <a:solidFill>
                <a:srgbClr val="E05070"/>
              </a:solidFill>
              <a:effectLst/>
            </c:spPr>
            <c:extLst>
              <c:ext xmlns:c16="http://schemas.microsoft.com/office/drawing/2014/chart" uri="{C3380CC4-5D6E-409C-BE32-E72D297353CC}">
                <c16:uniqueId val="{00000009-BBA1-4C49-BF55-66D457F705F4}"/>
              </c:ext>
            </c:extLst>
          </c:dPt>
          <c:dPt>
            <c:idx val="5"/>
            <c:bubble3D val="0"/>
            <c:spPr>
              <a:solidFill>
                <a:srgbClr val="94A3B8"/>
              </a:solidFill>
              <a:effectLst/>
            </c:spPr>
            <c:extLst>
              <c:ext xmlns:c16="http://schemas.microsoft.com/office/drawing/2014/chart" uri="{C3380CC4-5D6E-409C-BE32-E72D297353CC}">
                <c16:uniqueId val="{0000000B-BBA1-4C49-BF55-66D457F705F4}"/>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BA1-4C49-BF55-66D457F705F4}"/>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BA1-4C49-BF55-66D457F705F4}"/>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BBA1-4C49-BF55-66D457F705F4}"/>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BA1-4C49-BF55-66D457F705F4}"/>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BA1-4C49-BF55-66D457F705F4}"/>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BBA1-4C49-BF55-66D457F705F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Action/Adv/Sci-Fi</c:v>
                </c:pt>
                <c:pt idx="1">
                  <c:v>Adv/Sci-Fi</c:v>
                </c:pt>
                <c:pt idx="2">
                  <c:v>Drama/Romance</c:v>
                </c:pt>
                <c:pt idx="3">
                  <c:v>Adv/Action</c:v>
                </c:pt>
                <c:pt idx="4">
                  <c:v>Action/Adv/Sp</c:v>
                </c:pt>
                <c:pt idx="5">
                  <c:v>Others</c:v>
                </c:pt>
              </c:strCache>
            </c:strRef>
          </c:cat>
          <c:val>
            <c:numRef>
              <c:f>Sheet1!$B$2:$B$7</c:f>
              <c:numCache>
                <c:formatCode>General</c:formatCode>
                <c:ptCount val="6"/>
                <c:pt idx="0">
                  <c:v>22</c:v>
                </c:pt>
                <c:pt idx="1">
                  <c:v>18</c:v>
                </c:pt>
                <c:pt idx="2">
                  <c:v>15</c:v>
                </c:pt>
                <c:pt idx="3">
                  <c:v>13</c:v>
                </c:pt>
                <c:pt idx="4">
                  <c:v>11</c:v>
                </c:pt>
                <c:pt idx="5">
                  <c:v>21</c:v>
                </c:pt>
              </c:numCache>
            </c:numRef>
          </c:val>
          <c:extLst>
            <c:ext xmlns:c16="http://schemas.microsoft.com/office/drawing/2014/chart" uri="{C3380CC4-5D6E-409C-BE32-E72D297353CC}">
              <c16:uniqueId val="{0000000C-BBA1-4C49-BF55-66D457F705F4}"/>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Movie Status</c:v>
                </c:pt>
              </c:strCache>
            </c:strRef>
          </c:tx>
          <c:spPr>
            <a:solidFill>
              <a:schemeClr val="accent1"/>
            </a:solidFill>
            <a:ln w="9525" cap="flat">
              <a:solidFill>
                <a:srgbClr val="F9F9F9"/>
              </a:solidFill>
              <a:prstDash val="solid"/>
              <a:round/>
            </a:ln>
            <a:effectLst/>
          </c:spPr>
          <c:dPt>
            <c:idx val="0"/>
            <c:bubble3D val="0"/>
            <c:spPr>
              <a:solidFill>
                <a:srgbClr val="3B82F6"/>
              </a:solidFill>
              <a:effectLst/>
            </c:spPr>
            <c:extLst>
              <c:ext xmlns:c16="http://schemas.microsoft.com/office/drawing/2014/chart" uri="{C3380CC4-5D6E-409C-BE32-E72D297353CC}">
                <c16:uniqueId val="{00000001-1CAA-4EBA-8E62-06AEA9820770}"/>
              </c:ext>
            </c:extLst>
          </c:dPt>
          <c:dPt>
            <c:idx val="1"/>
            <c:bubble3D val="0"/>
            <c:spPr>
              <a:solidFill>
                <a:srgbClr val="F59E0B"/>
              </a:solidFill>
              <a:effectLst/>
            </c:spPr>
            <c:extLst>
              <c:ext xmlns:c16="http://schemas.microsoft.com/office/drawing/2014/chart" uri="{C3380CC4-5D6E-409C-BE32-E72D297353CC}">
                <c16:uniqueId val="{00000003-1CAA-4EBA-8E62-06AEA9820770}"/>
              </c:ext>
            </c:extLst>
          </c:dPt>
          <c:dPt>
            <c:idx val="2"/>
            <c:bubble3D val="0"/>
            <c:spPr>
              <a:solidFill>
                <a:srgbClr val="10B981"/>
              </a:solidFill>
              <a:effectLst/>
            </c:spPr>
            <c:extLst>
              <c:ext xmlns:c16="http://schemas.microsoft.com/office/drawing/2014/chart" uri="{C3380CC4-5D6E-409C-BE32-E72D297353CC}">
                <c16:uniqueId val="{00000005-1CAA-4EBA-8E62-06AEA9820770}"/>
              </c:ext>
            </c:extLst>
          </c:dPt>
          <c:dPt>
            <c:idx val="3"/>
            <c:bubble3D val="0"/>
            <c:spPr>
              <a:solidFill>
                <a:srgbClr val="C084FC"/>
              </a:solidFill>
              <a:effectLst/>
            </c:spPr>
            <c:extLst>
              <c:ext xmlns:c16="http://schemas.microsoft.com/office/drawing/2014/chart" uri="{C3380CC4-5D6E-409C-BE32-E72D297353CC}">
                <c16:uniqueId val="{00000007-1CAA-4EBA-8E62-06AEA9820770}"/>
              </c:ext>
            </c:extLst>
          </c:dPt>
          <c:dPt>
            <c:idx val="4"/>
            <c:bubble3D val="0"/>
            <c:spPr>
              <a:solidFill>
                <a:srgbClr val="E05070"/>
              </a:solidFill>
              <a:effectLst/>
            </c:spPr>
            <c:extLst>
              <c:ext xmlns:c16="http://schemas.microsoft.com/office/drawing/2014/chart" uri="{C3380CC4-5D6E-409C-BE32-E72D297353CC}">
                <c16:uniqueId val="{00000009-1CAA-4EBA-8E62-06AEA9820770}"/>
              </c:ext>
            </c:extLst>
          </c:dPt>
          <c:dPt>
            <c:idx val="5"/>
            <c:bubble3D val="0"/>
            <c:spPr>
              <a:solidFill>
                <a:srgbClr val="94A3B8"/>
              </a:solidFill>
              <a:effectLst/>
            </c:spPr>
            <c:extLst>
              <c:ext xmlns:c16="http://schemas.microsoft.com/office/drawing/2014/chart" uri="{C3380CC4-5D6E-409C-BE32-E72D297353CC}">
                <c16:uniqueId val="{0000000B-1CAA-4EBA-8E62-06AEA9820770}"/>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CAA-4EBA-8E62-06AEA9820770}"/>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CAA-4EBA-8E62-06AEA9820770}"/>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CAA-4EBA-8E62-06AEA9820770}"/>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CAA-4EBA-8E62-06AEA9820770}"/>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CAA-4EBA-8E62-06AEA9820770}"/>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1CAA-4EBA-8E62-06AEA982077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Released</c:v>
                </c:pt>
                <c:pt idx="1">
                  <c:v>In Production</c:v>
                </c:pt>
                <c:pt idx="2">
                  <c:v>Post Production</c:v>
                </c:pt>
                <c:pt idx="3">
                  <c:v>Planned</c:v>
                </c:pt>
                <c:pt idx="4">
                  <c:v>Canceled</c:v>
                </c:pt>
                <c:pt idx="5">
                  <c:v>Rumored</c:v>
                </c:pt>
              </c:strCache>
            </c:strRef>
          </c:cat>
          <c:val>
            <c:numRef>
              <c:f>Sheet1!$B$2:$B$7</c:f>
              <c:numCache>
                <c:formatCode>General</c:formatCode>
                <c:ptCount val="6"/>
                <c:pt idx="0">
                  <c:v>98</c:v>
                </c:pt>
                <c:pt idx="1">
                  <c:v>0.4</c:v>
                </c:pt>
                <c:pt idx="2">
                  <c:v>0.3</c:v>
                </c:pt>
                <c:pt idx="3">
                  <c:v>0.15</c:v>
                </c:pt>
                <c:pt idx="4">
                  <c:v>0.1</c:v>
                </c:pt>
                <c:pt idx="5">
                  <c:v>0.05</c:v>
                </c:pt>
              </c:numCache>
            </c:numRef>
          </c:val>
          <c:extLst>
            <c:ext xmlns:c16="http://schemas.microsoft.com/office/drawing/2014/chart" uri="{C3380CC4-5D6E-409C-BE32-E72D297353CC}">
              <c16:uniqueId val="{0000000C-1CAA-4EBA-8E62-06AEA9820770}"/>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Movie Count</c:v>
                </c:pt>
              </c:strCache>
            </c:strRef>
          </c:tx>
          <c:spPr>
            <a:solidFill>
              <a:srgbClr val="3B82F6"/>
            </a:solidFill>
            <a:effectLst/>
          </c:spPr>
          <c:invertIfNegative val="0"/>
          <c:dPt>
            <c:idx val="0"/>
            <c:invertIfNegative val="0"/>
            <c:bubble3D val="0"/>
            <c:extLst>
              <c:ext xmlns:c16="http://schemas.microsoft.com/office/drawing/2014/chart" uri="{C3380CC4-5D6E-409C-BE32-E72D297353CC}">
                <c16:uniqueId val="{00000001-ED10-402F-97D3-BE586BB99DDF}"/>
              </c:ext>
            </c:extLst>
          </c:dPt>
          <c:dPt>
            <c:idx val="1"/>
            <c:invertIfNegative val="0"/>
            <c:bubble3D val="0"/>
            <c:spPr>
              <a:solidFill>
                <a:srgbClr val="C084FC"/>
              </a:solidFill>
              <a:effectLst/>
            </c:spPr>
            <c:extLst>
              <c:ext xmlns:c16="http://schemas.microsoft.com/office/drawing/2014/chart" uri="{C3380CC4-5D6E-409C-BE32-E72D297353CC}">
                <c16:uniqueId val="{00000003-ED10-402F-97D3-BE586BB99DDF}"/>
              </c:ext>
            </c:extLst>
          </c:dPt>
          <c:dPt>
            <c:idx val="2"/>
            <c:invertIfNegative val="0"/>
            <c:bubble3D val="0"/>
            <c:spPr>
              <a:solidFill>
                <a:srgbClr val="F59E0B"/>
              </a:solidFill>
              <a:effectLst/>
            </c:spPr>
            <c:extLst>
              <c:ext xmlns:c16="http://schemas.microsoft.com/office/drawing/2014/chart" uri="{C3380CC4-5D6E-409C-BE32-E72D297353CC}">
                <c16:uniqueId val="{00000005-ED10-402F-97D3-BE586BB99DDF}"/>
              </c:ext>
            </c:extLst>
          </c:dPt>
          <c:dPt>
            <c:idx val="3"/>
            <c:invertIfNegative val="0"/>
            <c:bubble3D val="0"/>
            <c:spPr>
              <a:solidFill>
                <a:srgbClr val="10B981"/>
              </a:solidFill>
              <a:effectLst/>
            </c:spPr>
            <c:extLst>
              <c:ext xmlns:c16="http://schemas.microsoft.com/office/drawing/2014/chart" uri="{C3380CC4-5D6E-409C-BE32-E72D297353CC}">
                <c16:uniqueId val="{00000007-ED10-402F-97D3-BE586BB99DDF}"/>
              </c:ext>
            </c:extLst>
          </c:dPt>
          <c:dPt>
            <c:idx val="4"/>
            <c:invertIfNegative val="0"/>
            <c:bubble3D val="0"/>
            <c:spPr>
              <a:solidFill>
                <a:srgbClr val="E05070"/>
              </a:solidFill>
              <a:effectLst/>
            </c:spPr>
            <c:extLst>
              <c:ext xmlns:c16="http://schemas.microsoft.com/office/drawing/2014/chart" uri="{C3380CC4-5D6E-409C-BE32-E72D297353CC}">
                <c16:uniqueId val="{00000009-ED10-402F-97D3-BE586BB99DDF}"/>
              </c:ext>
            </c:extLst>
          </c:dPt>
          <c:dPt>
            <c:idx val="5"/>
            <c:invertIfNegative val="0"/>
            <c:bubble3D val="0"/>
            <c:spPr>
              <a:solidFill>
                <a:srgbClr val="94A3B8"/>
              </a:solidFill>
              <a:effectLst/>
            </c:spPr>
            <c:extLst>
              <c:ext xmlns:c16="http://schemas.microsoft.com/office/drawing/2014/chart" uri="{C3380CC4-5D6E-409C-BE32-E72D297353CC}">
                <c16:uniqueId val="{0000000B-ED10-402F-97D3-BE586BB99DDF}"/>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English (en)</c:v>
                </c:pt>
                <c:pt idx="1">
                  <c:v>Japanese (ja)</c:v>
                </c:pt>
                <c:pt idx="2">
                  <c:v>French (fr)</c:v>
                </c:pt>
                <c:pt idx="3">
                  <c:v>Spanish (es)</c:v>
                </c:pt>
                <c:pt idx="4">
                  <c:v>Russian (ru)</c:v>
                </c:pt>
                <c:pt idx="5">
                  <c:v>Others</c:v>
                </c:pt>
              </c:strCache>
            </c:strRef>
          </c:cat>
          <c:val>
            <c:numRef>
              <c:f>Sheet1!$B$2:$B$7</c:f>
              <c:numCache>
                <c:formatCode>General</c:formatCode>
                <c:ptCount val="6"/>
                <c:pt idx="0">
                  <c:v>7010</c:v>
                </c:pt>
                <c:pt idx="1">
                  <c:v>1130</c:v>
                </c:pt>
                <c:pt idx="2">
                  <c:v>450</c:v>
                </c:pt>
                <c:pt idx="3">
                  <c:v>390</c:v>
                </c:pt>
                <c:pt idx="4">
                  <c:v>280</c:v>
                </c:pt>
                <c:pt idx="5">
                  <c:v>740</c:v>
                </c:pt>
              </c:numCache>
            </c:numRef>
          </c:val>
          <c:extLst>
            <c:ext xmlns:c16="http://schemas.microsoft.com/office/drawing/2014/chart" uri="{C3380CC4-5D6E-409C-BE32-E72D297353CC}">
              <c16:uniqueId val="{0000000C-ED10-402F-97D3-BE586BB99D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A70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555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Classification</c:v>
                </c:pt>
              </c:strCache>
            </c:strRef>
          </c:tx>
          <c:spPr>
            <a:solidFill>
              <a:schemeClr val="accent1"/>
            </a:solidFill>
            <a:ln w="9525" cap="flat">
              <a:solidFill>
                <a:srgbClr val="F9F9F9"/>
              </a:solidFill>
              <a:prstDash val="solid"/>
              <a:round/>
            </a:ln>
            <a:effectLst/>
          </c:spPr>
          <c:dPt>
            <c:idx val="0"/>
            <c:bubble3D val="0"/>
            <c:spPr>
              <a:solidFill>
                <a:srgbClr val="3B82F6"/>
              </a:solidFill>
              <a:effectLst/>
            </c:spPr>
            <c:extLst>
              <c:ext xmlns:c16="http://schemas.microsoft.com/office/drawing/2014/chart" uri="{C3380CC4-5D6E-409C-BE32-E72D297353CC}">
                <c16:uniqueId val="{00000001-C328-48F4-96FF-DD60C09AE7D8}"/>
              </c:ext>
            </c:extLst>
          </c:dPt>
          <c:dPt>
            <c:idx val="1"/>
            <c:bubble3D val="0"/>
            <c:spPr>
              <a:solidFill>
                <a:srgbClr val="E05070"/>
              </a:solidFill>
              <a:effectLst/>
            </c:spPr>
            <c:extLst>
              <c:ext xmlns:c16="http://schemas.microsoft.com/office/drawing/2014/chart" uri="{C3380CC4-5D6E-409C-BE32-E72D297353CC}">
                <c16:uniqueId val="{00000003-C328-48F4-96FF-DD60C09AE7D8}"/>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328-48F4-96FF-DD60C09AE7D8}"/>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328-48F4-96FF-DD60C09AE7D8}"/>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Non-Adult (False)</c:v>
                </c:pt>
                <c:pt idx="1">
                  <c:v>Adult (True)</c:v>
                </c:pt>
              </c:strCache>
            </c:strRef>
          </c:cat>
          <c:val>
            <c:numRef>
              <c:f>Sheet1!$B$2:$B$3</c:f>
              <c:numCache>
                <c:formatCode>General</c:formatCode>
                <c:ptCount val="2"/>
                <c:pt idx="0">
                  <c:v>49.47</c:v>
                </c:pt>
                <c:pt idx="1">
                  <c:v>50.53</c:v>
                </c:pt>
              </c:numCache>
            </c:numRef>
          </c:val>
          <c:extLst>
            <c:ext xmlns:c16="http://schemas.microsoft.com/office/drawing/2014/chart" uri="{C3380CC4-5D6E-409C-BE32-E72D297353CC}">
              <c16:uniqueId val="{00000004-C328-48F4-96FF-DD60C09AE7D8}"/>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English</c:v>
                </c:pt>
              </c:strCache>
            </c:strRef>
          </c:tx>
          <c:spPr>
            <a:solidFill>
              <a:srgbClr val="F59E0B"/>
            </a:solidFill>
            <a:effectLst/>
          </c:spPr>
          <c:invertIfNegative val="0"/>
          <c:cat>
            <c:strRef>
              <c:f>Sheet1!$A$2:$A$7</c:f>
              <c:strCache>
                <c:ptCount val="6"/>
                <c:pt idx="0">
                  <c:v>Action/Adventure</c:v>
                </c:pt>
                <c:pt idx="1">
                  <c:v>Drama/Romance</c:v>
                </c:pt>
                <c:pt idx="2">
                  <c:v>Sci-Fi</c:v>
                </c:pt>
                <c:pt idx="3">
                  <c:v>Animation</c:v>
                </c:pt>
                <c:pt idx="4">
                  <c:v>Comedy</c:v>
                </c:pt>
                <c:pt idx="5">
                  <c:v>Thriller</c:v>
                </c:pt>
              </c:strCache>
            </c:strRef>
          </c:cat>
          <c:val>
            <c:numRef>
              <c:f>Sheet1!$B$2:$B$7</c:f>
              <c:numCache>
                <c:formatCode>General</c:formatCode>
                <c:ptCount val="6"/>
                <c:pt idx="0">
                  <c:v>2.2999999999999998</c:v>
                </c:pt>
                <c:pt idx="1">
                  <c:v>1.8</c:v>
                </c:pt>
                <c:pt idx="2">
                  <c:v>1.5</c:v>
                </c:pt>
                <c:pt idx="3">
                  <c:v>1.3</c:v>
                </c:pt>
                <c:pt idx="4">
                  <c:v>1</c:v>
                </c:pt>
                <c:pt idx="5">
                  <c:v>0.8</c:v>
                </c:pt>
              </c:numCache>
            </c:numRef>
          </c:val>
          <c:extLst>
            <c:ext xmlns:c16="http://schemas.microsoft.com/office/drawing/2014/chart" uri="{C3380CC4-5D6E-409C-BE32-E72D297353CC}">
              <c16:uniqueId val="{00000000-A0BE-473D-A5F0-DF5D24E95ED1}"/>
            </c:ext>
          </c:extLst>
        </c:ser>
        <c:ser>
          <c:idx val="1"/>
          <c:order val="1"/>
          <c:tx>
            <c:strRef>
              <c:f>Sheet1!$C$1</c:f>
              <c:strCache>
                <c:ptCount val="1"/>
                <c:pt idx="0">
                  <c:v>Other Languages</c:v>
                </c:pt>
              </c:strCache>
            </c:strRef>
          </c:tx>
          <c:spPr>
            <a:solidFill>
              <a:srgbClr val="3B82F6"/>
            </a:solidFill>
            <a:effectLst/>
          </c:spPr>
          <c:invertIfNegative val="0"/>
          <c:cat>
            <c:strRef>
              <c:f>Sheet1!$A$2:$A$7</c:f>
              <c:strCache>
                <c:ptCount val="6"/>
                <c:pt idx="0">
                  <c:v>Action/Adventure</c:v>
                </c:pt>
                <c:pt idx="1">
                  <c:v>Drama/Romance</c:v>
                </c:pt>
                <c:pt idx="2">
                  <c:v>Sci-Fi</c:v>
                </c:pt>
                <c:pt idx="3">
                  <c:v>Animation</c:v>
                </c:pt>
                <c:pt idx="4">
                  <c:v>Comedy</c:v>
                </c:pt>
                <c:pt idx="5">
                  <c:v>Thriller</c:v>
                </c:pt>
              </c:strCache>
            </c:strRef>
          </c:cat>
          <c:val>
            <c:numRef>
              <c:f>Sheet1!$C$2:$C$7</c:f>
              <c:numCache>
                <c:formatCode>General</c:formatCode>
                <c:ptCount val="6"/>
                <c:pt idx="0">
                  <c:v>0.6</c:v>
                </c:pt>
                <c:pt idx="1">
                  <c:v>0.9</c:v>
                </c:pt>
                <c:pt idx="2">
                  <c:v>0.4</c:v>
                </c:pt>
                <c:pt idx="3">
                  <c:v>0.3</c:v>
                </c:pt>
                <c:pt idx="4">
                  <c:v>0.5</c:v>
                </c:pt>
                <c:pt idx="5">
                  <c:v>0.2</c:v>
                </c:pt>
              </c:numCache>
            </c:numRef>
          </c:val>
          <c:extLst>
            <c:ext xmlns:c16="http://schemas.microsoft.com/office/drawing/2014/chart" uri="{C3380CC4-5D6E-409C-BE32-E72D297353CC}">
              <c16:uniqueId val="{00000001-A0BE-473D-A5F0-DF5D24E95ED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7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Movies Produced</c:v>
                </c:pt>
              </c:strCache>
            </c:strRef>
          </c:tx>
          <c:spPr>
            <a:solidFill>
              <a:srgbClr val="F59E0B"/>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USA</c:v>
                </c:pt>
                <c:pt idx="1">
                  <c:v>UK</c:v>
                </c:pt>
                <c:pt idx="2">
                  <c:v>France</c:v>
                </c:pt>
                <c:pt idx="3">
                  <c:v>Japan</c:v>
                </c:pt>
                <c:pt idx="4">
                  <c:v>India</c:v>
                </c:pt>
                <c:pt idx="5">
                  <c:v>Germany</c:v>
                </c:pt>
                <c:pt idx="6">
                  <c:v>Italy</c:v>
                </c:pt>
                <c:pt idx="7">
                  <c:v>Canada</c:v>
                </c:pt>
                <c:pt idx="8">
                  <c:v>South Korea</c:v>
                </c:pt>
                <c:pt idx="9">
                  <c:v>Australia</c:v>
                </c:pt>
              </c:strCache>
            </c:strRef>
          </c:cat>
          <c:val>
            <c:numRef>
              <c:f>Sheet1!$B$2:$B$11</c:f>
              <c:numCache>
                <c:formatCode>General</c:formatCode>
                <c:ptCount val="10"/>
                <c:pt idx="0">
                  <c:v>4200</c:v>
                </c:pt>
                <c:pt idx="1">
                  <c:v>820</c:v>
                </c:pt>
                <c:pt idx="2">
                  <c:v>650</c:v>
                </c:pt>
                <c:pt idx="3">
                  <c:v>580</c:v>
                </c:pt>
                <c:pt idx="4">
                  <c:v>520</c:v>
                </c:pt>
                <c:pt idx="5">
                  <c:v>310</c:v>
                </c:pt>
                <c:pt idx="6">
                  <c:v>290</c:v>
                </c:pt>
                <c:pt idx="7">
                  <c:v>260</c:v>
                </c:pt>
                <c:pt idx="8">
                  <c:v>230</c:v>
                </c:pt>
                <c:pt idx="9">
                  <c:v>190</c:v>
                </c:pt>
              </c:numCache>
            </c:numRef>
          </c:val>
          <c:extLst>
            <c:ext xmlns:c16="http://schemas.microsoft.com/office/drawing/2014/chart" uri="{C3380CC4-5D6E-409C-BE32-E72D297353CC}">
              <c16:uniqueId val="{00000000-E5DE-4585-BCCD-44006B6479F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A70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555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588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364925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31436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457200" y="1097280"/>
            <a:ext cx="8229600" cy="1005840"/>
          </a:xfrm>
          <a:prstGeom prst="rect">
            <a:avLst/>
          </a:prstGeom>
          <a:noFill/>
          <a:ln/>
        </p:spPr>
        <p:txBody>
          <a:bodyPr wrap="square" lIns="0" tIns="0" rIns="0" bIns="0" rtlCol="0" anchor="ctr"/>
          <a:lstStyle/>
          <a:p>
            <a:pPr marL="0" indent="0">
              <a:buNone/>
            </a:pPr>
            <a:r>
              <a:rPr lang="en-US" sz="6000" dirty="0">
                <a:solidFill>
                  <a:srgbClr val="C084FC"/>
                </a:solidFill>
                <a:latin typeface="Trebuchet MS" pitchFamily="34" charset="0"/>
                <a:ea typeface="Trebuchet MS" pitchFamily="34" charset="-122"/>
                <a:cs typeface="Trebuchet MS" pitchFamily="34" charset="-120"/>
              </a:rPr>
              <a:t>    Movie Performance</a:t>
            </a:r>
            <a:endParaRPr lang="en-US" sz="6000" dirty="0"/>
          </a:p>
        </p:txBody>
      </p:sp>
      <p:sp>
        <p:nvSpPr>
          <p:cNvPr id="4" name="Text 2"/>
          <p:cNvSpPr/>
          <p:nvPr/>
        </p:nvSpPr>
        <p:spPr>
          <a:xfrm>
            <a:off x="2489200" y="2057400"/>
            <a:ext cx="6197600" cy="914400"/>
          </a:xfrm>
          <a:prstGeom prst="rect">
            <a:avLst/>
          </a:prstGeom>
          <a:noFill/>
          <a:ln/>
        </p:spPr>
        <p:txBody>
          <a:bodyPr wrap="square" lIns="0" tIns="0" rIns="0" bIns="0" rtlCol="0" anchor="ctr"/>
          <a:lstStyle/>
          <a:p>
            <a:pPr marL="0" indent="0">
              <a:buNone/>
            </a:pPr>
            <a:r>
              <a:rPr lang="en-US" sz="6000" dirty="0">
                <a:solidFill>
                  <a:srgbClr val="C084FC"/>
                </a:solidFill>
                <a:latin typeface="Trebuchet MS" pitchFamily="34" charset="0"/>
                <a:ea typeface="Trebuchet MS" pitchFamily="34" charset="-122"/>
                <a:cs typeface="Trebuchet MS" pitchFamily="34" charset="-120"/>
              </a:rPr>
              <a:t>   Analysis</a:t>
            </a:r>
            <a:endParaRPr lang="en-US" sz="6000" dirty="0"/>
          </a:p>
        </p:txBody>
      </p:sp>
      <p:sp>
        <p:nvSpPr>
          <p:cNvPr id="5" name="Text 3"/>
          <p:cNvSpPr/>
          <p:nvPr/>
        </p:nvSpPr>
        <p:spPr>
          <a:xfrm>
            <a:off x="5943600" y="3840480"/>
            <a:ext cx="2743200" cy="320040"/>
          </a:xfrm>
          <a:prstGeom prst="rect">
            <a:avLst/>
          </a:prstGeom>
          <a:noFill/>
          <a:ln/>
        </p:spPr>
        <p:txBody>
          <a:bodyPr wrap="square" lIns="0" tIns="0" rIns="0" bIns="0" rtlCol="0" anchor="ctr"/>
          <a:lstStyle/>
          <a:p>
            <a:pPr marL="0" indent="0" algn="ctr">
              <a:buNone/>
            </a:pPr>
            <a:r>
              <a:rPr lang="en-US" sz="1400" dirty="0">
                <a:solidFill>
                  <a:srgbClr val="C8E0DC"/>
                </a:solidFill>
                <a:latin typeface="Trebuchet MS" pitchFamily="34" charset="0"/>
                <a:ea typeface="Trebuchet MS" pitchFamily="34" charset="-122"/>
                <a:cs typeface="Trebuchet MS" pitchFamily="34" charset="-120"/>
              </a:rPr>
              <a:t>presented by</a:t>
            </a:r>
            <a:endParaRPr lang="en-US" sz="1400" dirty="0"/>
          </a:p>
        </p:txBody>
      </p:sp>
      <p:sp>
        <p:nvSpPr>
          <p:cNvPr id="6" name="Text 4"/>
          <p:cNvSpPr/>
          <p:nvPr/>
        </p:nvSpPr>
        <p:spPr>
          <a:xfrm>
            <a:off x="5943600" y="4160520"/>
            <a:ext cx="2743200" cy="411480"/>
          </a:xfrm>
          <a:prstGeom prst="rect">
            <a:avLst/>
          </a:prstGeom>
          <a:noFill/>
          <a:ln/>
        </p:spPr>
        <p:txBody>
          <a:bodyPr wrap="square" lIns="0" tIns="0" rIns="0" bIns="0" rtlCol="0" anchor="ctr"/>
          <a:lstStyle/>
          <a:p>
            <a:pPr marL="0" indent="0" algn="ctr">
              <a:buNone/>
            </a:pPr>
            <a:r>
              <a:rPr lang="en-US" sz="1800" b="1" dirty="0" err="1">
                <a:solidFill>
                  <a:srgbClr val="FFFFFF"/>
                </a:solidFill>
                <a:latin typeface="Trebuchet MS" pitchFamily="34" charset="0"/>
                <a:ea typeface="Trebuchet MS" pitchFamily="34" charset="-122"/>
                <a:cs typeface="Trebuchet MS" pitchFamily="34" charset="-120"/>
              </a:rPr>
              <a:t>Gopika</a:t>
            </a:r>
            <a:r>
              <a:rPr lang="en-US" sz="1800" b="1" dirty="0">
                <a:solidFill>
                  <a:srgbClr val="FFFFFF"/>
                </a:solidFill>
                <a:latin typeface="Trebuchet MS" pitchFamily="34" charset="0"/>
                <a:ea typeface="Trebuchet MS" pitchFamily="34" charset="-122"/>
                <a:cs typeface="Trebuchet MS" pitchFamily="34" charset="-120"/>
              </a:rPr>
              <a:t> 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Introduction</a:t>
            </a:r>
            <a:endParaRPr lang="en-US" sz="3200" dirty="0"/>
          </a:p>
        </p:txBody>
      </p:sp>
      <p:sp>
        <p:nvSpPr>
          <p:cNvPr id="4" name="Text 2"/>
          <p:cNvSpPr/>
          <p:nvPr/>
        </p:nvSpPr>
        <p:spPr>
          <a:xfrm>
            <a:off x="365760" y="960120"/>
            <a:ext cx="8229600" cy="3840480"/>
          </a:xfrm>
          <a:prstGeom prst="rect">
            <a:avLst/>
          </a:prstGeom>
          <a:noFill/>
          <a:ln/>
        </p:spPr>
        <p:txBody>
          <a:bodyPr wrap="square" lIns="0" tIns="0" rIns="0" bIns="0" rtlCol="0" anchor="ctr"/>
          <a:lstStyle/>
          <a:p>
            <a:pPr marL="342900" indent="-342900">
              <a:spcAft>
                <a:spcPts val="1800"/>
              </a:spcAft>
              <a:buSzPct val="100000"/>
              <a:buChar char="►"/>
            </a:pPr>
            <a:r>
              <a:rPr lang="en-US" sz="1800" dirty="0">
                <a:solidFill>
                  <a:srgbClr val="FFFFFF"/>
                </a:solidFill>
                <a:latin typeface="Trebuchet MS" pitchFamily="34" charset="0"/>
                <a:ea typeface="Trebuchet MS" pitchFamily="34" charset="-122"/>
                <a:cs typeface="Trebuchet MS" pitchFamily="34" charset="-120"/>
              </a:rPr>
              <a:t>The Movie Performance Analysis project examines a dataset of over 12,000 movies spanning from 1850 to 2024. Analyzing this data helps understand audience behavior, revenue trends, top-performing genres, and global production patterns.</a:t>
            </a:r>
            <a:endParaRPr lang="en-US" sz="1800" dirty="0"/>
          </a:p>
          <a:p>
            <a:pPr marL="342900" indent="-342900">
              <a:spcAft>
                <a:spcPts val="1800"/>
              </a:spcAft>
              <a:buSzPct val="100000"/>
              <a:buChar char="►"/>
            </a:pPr>
            <a:r>
              <a:rPr lang="en-US" sz="1800" dirty="0">
                <a:solidFill>
                  <a:srgbClr val="FFFFFF"/>
                </a:solidFill>
                <a:latin typeface="Trebuchet MS" pitchFamily="34" charset="0"/>
                <a:ea typeface="Trebuchet MS" pitchFamily="34" charset="-122"/>
                <a:cs typeface="Trebuchet MS" pitchFamily="34" charset="-120"/>
              </a:rPr>
              <a:t>Power BI is a business intelligence and data visualization tool that transforms raw movie data into interactive dashboards and insightful reports. It helps explore data, identify patterns, and make data-driven decisions effectively.</a:t>
            </a:r>
            <a:endParaRPr lang="en-US" sz="1800" dirty="0"/>
          </a:p>
          <a:p>
            <a:pPr marL="342900" indent="-342900">
              <a:spcAft>
                <a:spcPts val="1800"/>
              </a:spcAft>
              <a:buSzPct val="100000"/>
              <a:buChar char="►"/>
            </a:pPr>
            <a:r>
              <a:rPr lang="en-US" sz="1800" dirty="0">
                <a:solidFill>
                  <a:srgbClr val="FFFFFF"/>
                </a:solidFill>
                <a:latin typeface="Trebuchet MS" pitchFamily="34" charset="0"/>
                <a:ea typeface="Trebuchet MS" pitchFamily="34" charset="-122"/>
                <a:cs typeface="Trebuchet MS" pitchFamily="34" charset="-120"/>
              </a:rPr>
              <a:t>A Power BI dashboard built on this movie dataset can simplify analysis and provide actionable insights for industry stakeholders.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Problem Statement</a:t>
            </a:r>
            <a:endParaRPr lang="en-US" sz="3200" dirty="0"/>
          </a:p>
        </p:txBody>
      </p:sp>
      <p:sp>
        <p:nvSpPr>
          <p:cNvPr id="4" name="Text 2"/>
          <p:cNvSpPr/>
          <p:nvPr/>
        </p:nvSpPr>
        <p:spPr>
          <a:xfrm>
            <a:off x="365760" y="914400"/>
            <a:ext cx="8229600" cy="2286000"/>
          </a:xfrm>
          <a:prstGeom prst="rect">
            <a:avLst/>
          </a:prstGeom>
          <a:noFill/>
          <a:ln/>
        </p:spPr>
        <p:txBody>
          <a:bodyPr wrap="square" lIns="0" tIns="0" rIns="0" bIns="0" rtlCol="0" anchor="ctr"/>
          <a:lstStyle/>
          <a:p>
            <a:pPr marL="0" indent="0">
              <a:spcAft>
                <a:spcPts val="1200"/>
              </a:spcAft>
              <a:buNone/>
            </a:pPr>
            <a:endParaRPr lang="en-US" sz="1800" dirty="0">
              <a:solidFill>
                <a:srgbClr val="FFFFFF"/>
              </a:solidFill>
              <a:latin typeface="Trebuchet MS" pitchFamily="34" charset="0"/>
              <a:ea typeface="Trebuchet MS" pitchFamily="34" charset="-122"/>
              <a:cs typeface="Trebuchet MS" pitchFamily="34" charset="-120"/>
            </a:endParaRPr>
          </a:p>
          <a:p>
            <a:pPr marL="0" indent="0">
              <a:spcAft>
                <a:spcPts val="1200"/>
              </a:spcAft>
              <a:buNone/>
            </a:pPr>
            <a:endParaRPr lang="en-US" dirty="0">
              <a:solidFill>
                <a:srgbClr val="FFFFFF"/>
              </a:solidFill>
              <a:latin typeface="Trebuchet MS" pitchFamily="34" charset="0"/>
              <a:ea typeface="Trebuchet MS" pitchFamily="34" charset="-122"/>
              <a:cs typeface="Trebuchet MS" pitchFamily="34" charset="-120"/>
            </a:endParaRPr>
          </a:p>
          <a:p>
            <a:pPr marL="0" indent="0">
              <a:spcAft>
                <a:spcPts val="1200"/>
              </a:spcAft>
              <a:buNone/>
            </a:pPr>
            <a:r>
              <a:rPr lang="en-US" sz="1800" dirty="0">
                <a:solidFill>
                  <a:srgbClr val="FFFFFF"/>
                </a:solidFill>
                <a:latin typeface="Trebuchet MS" pitchFamily="34" charset="0"/>
                <a:ea typeface="Trebuchet MS" pitchFamily="34" charset="-122"/>
                <a:cs typeface="Trebuchet MS" pitchFamily="34" charset="-120"/>
              </a:rPr>
              <a:t>Movie industry data is large and complex, making it difficult to analyse performance and identify meaningful patterns using traditional methods. Without proper visualization and analysis, it becomes challenging to track revenue trends, evaluate genre performance, and make informed business decisions.</a:t>
            </a:r>
            <a:endParaRPr lang="en-US" sz="1800" dirty="0"/>
          </a:p>
          <a:p>
            <a:pPr marL="0" indent="0">
              <a:spcAft>
                <a:spcPts val="1200"/>
              </a:spcAft>
              <a:buNone/>
            </a:pPr>
            <a:endParaRPr lang="en-US" sz="1800" dirty="0"/>
          </a:p>
          <a:p>
            <a:pPr marL="0" indent="0">
              <a:spcAft>
                <a:spcPts val="1200"/>
              </a:spcAft>
              <a:buNone/>
            </a:pPr>
            <a:r>
              <a:rPr lang="en-US" sz="1800" dirty="0">
                <a:solidFill>
                  <a:srgbClr val="FFFFFF"/>
                </a:solidFill>
                <a:latin typeface="Trebuchet MS" pitchFamily="34" charset="0"/>
                <a:ea typeface="Trebuchet MS" pitchFamily="34" charset="-122"/>
                <a:cs typeface="Trebuchet MS" pitchFamily="34" charset="-120"/>
              </a:rPr>
              <a:t>This project aims to address this by developing a Movie Performance Analysis Dashboard using Power BI that converts raw data into interactive visualizations for effective analysis and decision-making.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Business Problem:</a:t>
            </a:r>
            <a:endParaRPr lang="en-US" sz="3200" dirty="0"/>
          </a:p>
        </p:txBody>
      </p:sp>
      <p:sp>
        <p:nvSpPr>
          <p:cNvPr id="4" name="Text 2"/>
          <p:cNvSpPr/>
          <p:nvPr/>
        </p:nvSpPr>
        <p:spPr>
          <a:xfrm>
            <a:off x="365760" y="914400"/>
            <a:ext cx="8229600" cy="402336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Which movie genres and genre combinations generate the highest total revenue, and which genres perform best overall?</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How does movie revenue change over the years, and what overall trend can be observed in terms of growth or decline?</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What is the distribution of movies across different status categories, and which status category dominates the dataset?</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Which original language has the highest number of movies, and how are movies distributed across different languages?</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What is the proportion of adult versus non-adult movies in the dataset?</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How does revenue vary across different genres and original languages, and which combination generates the highest revenue?</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Which countries produce the highest number of movies, and how is movie production distributed globally?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Data Overview</a:t>
            </a:r>
            <a:endParaRPr lang="en-US" sz="3200" dirty="0"/>
          </a:p>
        </p:txBody>
      </p:sp>
      <p:sp>
        <p:nvSpPr>
          <p:cNvPr id="4" name="Text 2"/>
          <p:cNvSpPr/>
          <p:nvPr/>
        </p:nvSpPr>
        <p:spPr>
          <a:xfrm>
            <a:off x="365760" y="914400"/>
            <a:ext cx="8229600" cy="411480"/>
          </a:xfrm>
          <a:prstGeom prst="rect">
            <a:avLst/>
          </a:prstGeom>
          <a:noFill/>
          <a:ln/>
        </p:spPr>
        <p:txBody>
          <a:bodyPr wrap="square" lIns="0" tIns="0" rIns="0" bIns="0" rtlCol="0" anchor="ctr"/>
          <a:lstStyle/>
          <a:p>
            <a:pPr marL="0" indent="0">
              <a:buNone/>
            </a:pPr>
            <a:r>
              <a:rPr lang="en-US" sz="2000" b="1" dirty="0">
                <a:solidFill>
                  <a:srgbClr val="C084FC"/>
                </a:solidFill>
              </a:rPr>
              <a:t>✓ </a:t>
            </a:r>
            <a:r>
              <a:rPr lang="en-US" sz="2000" b="1" dirty="0">
                <a:solidFill>
                  <a:srgbClr val="FFFFFF"/>
                </a:solidFill>
                <a:latin typeface="Trebuchet MS" pitchFamily="34" charset="0"/>
                <a:ea typeface="Trebuchet MS" pitchFamily="34" charset="-122"/>
                <a:cs typeface="Trebuchet MS" pitchFamily="34" charset="-120"/>
              </a:rPr>
              <a:t>Data Fields:</a:t>
            </a:r>
            <a:endParaRPr lang="en-US" sz="2000" dirty="0"/>
          </a:p>
        </p:txBody>
      </p:sp>
      <p:sp>
        <p:nvSpPr>
          <p:cNvPr id="5" name="Text 3"/>
          <p:cNvSpPr/>
          <p:nvPr/>
        </p:nvSpPr>
        <p:spPr>
          <a:xfrm>
            <a:off x="640080" y="1417320"/>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Movie ID &amp; Title</a:t>
            </a:r>
            <a:endParaRPr lang="en-US" sz="1600" dirty="0"/>
          </a:p>
        </p:txBody>
      </p:sp>
      <p:sp>
        <p:nvSpPr>
          <p:cNvPr id="6" name="Text 4"/>
          <p:cNvSpPr/>
          <p:nvPr/>
        </p:nvSpPr>
        <p:spPr>
          <a:xfrm>
            <a:off x="640080" y="2039112"/>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Genre &amp; Genre Combinations</a:t>
            </a:r>
            <a:endParaRPr lang="en-US" sz="1600" dirty="0"/>
          </a:p>
        </p:txBody>
      </p:sp>
      <p:sp>
        <p:nvSpPr>
          <p:cNvPr id="7" name="Text 5"/>
          <p:cNvSpPr/>
          <p:nvPr/>
        </p:nvSpPr>
        <p:spPr>
          <a:xfrm>
            <a:off x="640080" y="2660904"/>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Release Year &amp; Date</a:t>
            </a:r>
            <a:endParaRPr lang="en-US" sz="1600" dirty="0"/>
          </a:p>
        </p:txBody>
      </p:sp>
      <p:sp>
        <p:nvSpPr>
          <p:cNvPr id="8" name="Text 6"/>
          <p:cNvSpPr/>
          <p:nvPr/>
        </p:nvSpPr>
        <p:spPr>
          <a:xfrm>
            <a:off x="640080" y="3282696"/>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Revenue &amp; Budget</a:t>
            </a:r>
            <a:endParaRPr lang="en-US" sz="1600" dirty="0"/>
          </a:p>
        </p:txBody>
      </p:sp>
      <p:sp>
        <p:nvSpPr>
          <p:cNvPr id="9" name="Text 7"/>
          <p:cNvSpPr/>
          <p:nvPr/>
        </p:nvSpPr>
        <p:spPr>
          <a:xfrm>
            <a:off x="640080" y="3904488"/>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Profit</a:t>
            </a:r>
            <a:endParaRPr lang="en-US" sz="1600" dirty="0"/>
          </a:p>
        </p:txBody>
      </p:sp>
      <p:sp>
        <p:nvSpPr>
          <p:cNvPr id="10" name="Text 8"/>
          <p:cNvSpPr/>
          <p:nvPr/>
        </p:nvSpPr>
        <p:spPr>
          <a:xfrm>
            <a:off x="4754880" y="1417320"/>
            <a:ext cx="3931920" cy="457200"/>
          </a:xfrm>
          <a:prstGeom prst="rect">
            <a:avLst/>
          </a:prstGeom>
          <a:noFill/>
          <a:ln/>
        </p:spPr>
        <p:txBody>
          <a:bodyPr wrap="square" lIns="0" tIns="0" rIns="0" bIns="0" rtlCol="0" anchor="ctr"/>
          <a:lstStyle/>
          <a:p>
            <a:r>
              <a:rPr lang="en-US" sz="1600" dirty="0">
                <a:solidFill>
                  <a:srgbClr val="FFFFFF"/>
                </a:solidFill>
                <a:latin typeface="Trebuchet MS" pitchFamily="34" charset="0"/>
                <a:ea typeface="Trebuchet MS" pitchFamily="34" charset="-122"/>
                <a:cs typeface="Trebuchet MS" pitchFamily="34" charset="-120"/>
              </a:rPr>
              <a:t>• </a:t>
            </a:r>
            <a:r>
              <a:rPr lang="en-US" sz="1600" dirty="0" err="1">
                <a:solidFill>
                  <a:srgbClr val="FFFFFF"/>
                </a:solidFill>
                <a:latin typeface="Trebuchet MS" pitchFamily="34" charset="0"/>
                <a:ea typeface="Trebuchet MS" pitchFamily="34" charset="-122"/>
                <a:cs typeface="Trebuchet MS" pitchFamily="34" charset="-120"/>
              </a:rPr>
              <a:t>vote_count</a:t>
            </a:r>
            <a:endParaRPr lang="en-US" sz="1600" dirty="0"/>
          </a:p>
        </p:txBody>
      </p:sp>
      <p:sp>
        <p:nvSpPr>
          <p:cNvPr id="11" name="Text 9"/>
          <p:cNvSpPr/>
          <p:nvPr/>
        </p:nvSpPr>
        <p:spPr>
          <a:xfrm>
            <a:off x="4754880" y="2039112"/>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Original Language</a:t>
            </a:r>
            <a:endParaRPr lang="en-US" sz="1600" dirty="0"/>
          </a:p>
        </p:txBody>
      </p:sp>
      <p:sp>
        <p:nvSpPr>
          <p:cNvPr id="12" name="Text 10"/>
          <p:cNvSpPr/>
          <p:nvPr/>
        </p:nvSpPr>
        <p:spPr>
          <a:xfrm>
            <a:off x="4754880" y="2660904"/>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Production Country</a:t>
            </a:r>
            <a:endParaRPr lang="en-US" sz="1600" dirty="0"/>
          </a:p>
        </p:txBody>
      </p:sp>
      <p:sp>
        <p:nvSpPr>
          <p:cNvPr id="13" name="Text 11"/>
          <p:cNvSpPr/>
          <p:nvPr/>
        </p:nvSpPr>
        <p:spPr>
          <a:xfrm>
            <a:off x="4754880" y="3282696"/>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Movie Status (Released / In Production / Planned etc.)</a:t>
            </a:r>
            <a:endParaRPr lang="en-US" sz="1600" dirty="0"/>
          </a:p>
        </p:txBody>
      </p:sp>
      <p:sp>
        <p:nvSpPr>
          <p:cNvPr id="14" name="Text 12"/>
          <p:cNvSpPr/>
          <p:nvPr/>
        </p:nvSpPr>
        <p:spPr>
          <a:xfrm>
            <a:off x="4754880" y="3904488"/>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Adult Classification (True / False)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Technology Used</a:t>
            </a:r>
            <a:endParaRPr lang="en-US" sz="3200" dirty="0"/>
          </a:p>
        </p:txBody>
      </p:sp>
      <p:sp>
        <p:nvSpPr>
          <p:cNvPr id="4" name="Text 2"/>
          <p:cNvSpPr/>
          <p:nvPr/>
        </p:nvSpPr>
        <p:spPr>
          <a:xfrm>
            <a:off x="365760" y="91440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Source:</a:t>
            </a:r>
            <a:endParaRPr lang="en-US" sz="1600" dirty="0"/>
          </a:p>
        </p:txBody>
      </p:sp>
      <p:sp>
        <p:nvSpPr>
          <p:cNvPr id="5" name="Text 3"/>
          <p:cNvSpPr/>
          <p:nvPr/>
        </p:nvSpPr>
        <p:spPr>
          <a:xfrm>
            <a:off x="822960" y="126187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Movie Dataset (Excel / CSV format)</a:t>
            </a:r>
            <a:endParaRPr lang="en-US" sz="1400" dirty="0"/>
          </a:p>
        </p:txBody>
      </p:sp>
      <p:sp>
        <p:nvSpPr>
          <p:cNvPr id="6" name="Text 4"/>
          <p:cNvSpPr/>
          <p:nvPr/>
        </p:nvSpPr>
        <p:spPr>
          <a:xfrm>
            <a:off x="365760" y="192024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Preparation &amp; Transformation (ETL):</a:t>
            </a:r>
            <a:endParaRPr lang="en-US" sz="1600" dirty="0"/>
          </a:p>
        </p:txBody>
      </p:sp>
      <p:sp>
        <p:nvSpPr>
          <p:cNvPr id="7" name="Text 5"/>
          <p:cNvSpPr/>
          <p:nvPr/>
        </p:nvSpPr>
        <p:spPr>
          <a:xfrm>
            <a:off x="822960" y="226771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Power Query: To clean, transform, and structure data</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Data Modeling: Creating tables for Genre, Language, Country</a:t>
            </a:r>
            <a:endParaRPr lang="en-US" sz="1400" dirty="0"/>
          </a:p>
        </p:txBody>
      </p:sp>
      <p:sp>
        <p:nvSpPr>
          <p:cNvPr id="8" name="Text 6"/>
          <p:cNvSpPr/>
          <p:nvPr/>
        </p:nvSpPr>
        <p:spPr>
          <a:xfrm>
            <a:off x="365760" y="292608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Analysis &amp; Visualization:</a:t>
            </a:r>
            <a:endParaRPr lang="en-US" sz="1600" dirty="0"/>
          </a:p>
        </p:txBody>
      </p:sp>
      <p:sp>
        <p:nvSpPr>
          <p:cNvPr id="9" name="Text 7"/>
          <p:cNvSpPr/>
          <p:nvPr/>
        </p:nvSpPr>
        <p:spPr>
          <a:xfrm>
            <a:off x="822960" y="327355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Power BI:</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Charts: Area chart, Bar chart, Donut chart, Line chart, Map</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Measures using DAX</a:t>
            </a:r>
            <a:endParaRPr lang="en-US" sz="1400" dirty="0"/>
          </a:p>
        </p:txBody>
      </p:sp>
      <p:sp>
        <p:nvSpPr>
          <p:cNvPr id="10" name="Text 8"/>
          <p:cNvSpPr/>
          <p:nvPr/>
        </p:nvSpPr>
        <p:spPr>
          <a:xfrm>
            <a:off x="365760" y="393192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Insights &amp; Reporting:</a:t>
            </a:r>
            <a:endParaRPr lang="en-US" sz="1600" dirty="0"/>
          </a:p>
        </p:txBody>
      </p:sp>
      <p:sp>
        <p:nvSpPr>
          <p:cNvPr id="11" name="Text 9"/>
          <p:cNvSpPr/>
          <p:nvPr/>
        </p:nvSpPr>
        <p:spPr>
          <a:xfrm>
            <a:off x="822960" y="427939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Power BI Dashboard: Interactive visualizations</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Filters &amp; Slicers: By genre, language, country, year, status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Data Preprocessing</a:t>
            </a:r>
            <a:endParaRPr lang="en-US" sz="3200" dirty="0"/>
          </a:p>
        </p:txBody>
      </p:sp>
      <p:sp>
        <p:nvSpPr>
          <p:cNvPr id="4" name="Text 2"/>
          <p:cNvSpPr/>
          <p:nvPr/>
        </p:nvSpPr>
        <p:spPr>
          <a:xfrm>
            <a:off x="365760" y="868680"/>
            <a:ext cx="8229600" cy="457200"/>
          </a:xfrm>
          <a:prstGeom prst="rect">
            <a:avLst/>
          </a:prstGeom>
          <a:noFill/>
          <a:ln/>
        </p:spPr>
        <p:txBody>
          <a:bodyPr wrap="square" lIns="0" tIns="0" rIns="0" bIns="0" rtlCol="0" anchor="ctr"/>
          <a:lstStyle/>
          <a:p>
            <a:pPr marL="0" indent="0">
              <a:buNone/>
            </a:pPr>
            <a:r>
              <a:rPr lang="en-US" sz="1800" dirty="0">
                <a:solidFill>
                  <a:srgbClr val="FFFFFF"/>
                </a:solidFill>
                <a:latin typeface="Trebuchet MS" pitchFamily="34" charset="0"/>
                <a:ea typeface="Trebuchet MS" pitchFamily="34" charset="-122"/>
                <a:cs typeface="Trebuchet MS" pitchFamily="34" charset="-120"/>
              </a:rPr>
              <a:t>The Best Tool For Cleaning And Preprocessing The Data Is Called </a:t>
            </a:r>
            <a:r>
              <a:rPr lang="en-US" sz="1800" b="1" dirty="0">
                <a:solidFill>
                  <a:srgbClr val="FFFFFF"/>
                </a:solidFill>
                <a:latin typeface="Trebuchet MS" pitchFamily="34" charset="0"/>
                <a:ea typeface="Trebuchet MS" pitchFamily="34" charset="-122"/>
                <a:cs typeface="Trebuchet MS" pitchFamily="34" charset="-120"/>
              </a:rPr>
              <a:t>Power Query Editor.</a:t>
            </a:r>
            <a:endParaRPr lang="en-US" sz="1800" dirty="0"/>
          </a:p>
        </p:txBody>
      </p:sp>
      <p:sp>
        <p:nvSpPr>
          <p:cNvPr id="5" name="Text 3"/>
          <p:cNvSpPr/>
          <p:nvPr/>
        </p:nvSpPr>
        <p:spPr>
          <a:xfrm>
            <a:off x="365760" y="1325880"/>
            <a:ext cx="8229600" cy="36576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It Is Used For Extracting The Data, Transforming The Data And Loading Into Power BI.</a:t>
            </a:r>
            <a:endParaRPr lang="en-US" sz="1600" dirty="0"/>
          </a:p>
        </p:txBody>
      </p:sp>
      <p:sp>
        <p:nvSpPr>
          <p:cNvPr id="6" name="Text 4"/>
          <p:cNvSpPr/>
          <p:nvPr/>
        </p:nvSpPr>
        <p:spPr>
          <a:xfrm>
            <a:off x="365760" y="1828800"/>
            <a:ext cx="8229600" cy="365760"/>
          </a:xfrm>
          <a:prstGeom prst="rect">
            <a:avLst/>
          </a:prstGeom>
          <a:noFill/>
          <a:ln/>
        </p:spPr>
        <p:txBody>
          <a:bodyPr wrap="square" lIns="0" tIns="0" rIns="0" bIns="0" rtlCol="0" anchor="ctr"/>
          <a:lstStyle/>
          <a:p>
            <a:pPr marL="0" indent="0">
              <a:buNone/>
            </a:pPr>
            <a:r>
              <a:rPr lang="en-US" sz="1800" b="1" dirty="0">
                <a:solidFill>
                  <a:srgbClr val="C084FC"/>
                </a:solidFill>
              </a:rPr>
              <a:t>✓ </a:t>
            </a:r>
            <a:r>
              <a:rPr lang="en-US" sz="1800" b="1" dirty="0">
                <a:solidFill>
                  <a:srgbClr val="FFFFFF"/>
                </a:solidFill>
                <a:latin typeface="Trebuchet MS" pitchFamily="34" charset="0"/>
                <a:ea typeface="Trebuchet MS" pitchFamily="34" charset="-122"/>
                <a:cs typeface="Trebuchet MS" pitchFamily="34" charset="-120"/>
              </a:rPr>
              <a:t>Data Cleaning steps :</a:t>
            </a:r>
            <a:endParaRPr lang="en-US" sz="1800" dirty="0"/>
          </a:p>
        </p:txBody>
      </p:sp>
      <p:sp>
        <p:nvSpPr>
          <p:cNvPr id="7" name="Text 5"/>
          <p:cNvSpPr/>
          <p:nvPr/>
        </p:nvSpPr>
        <p:spPr>
          <a:xfrm>
            <a:off x="640080" y="2743200"/>
            <a:ext cx="8046720" cy="224028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chemeClr val="bg1"/>
                </a:solidFill>
              </a:rPr>
              <a:t>Changing the data types of columns such as </a:t>
            </a:r>
            <a:r>
              <a:rPr lang="en-US" sz="1600" b="1" dirty="0">
                <a:solidFill>
                  <a:schemeClr val="bg1"/>
                </a:solidFill>
              </a:rPr>
              <a:t>release date, rating, revenue, and budget</a:t>
            </a:r>
            <a:r>
              <a:rPr lang="en-US" sz="1600" dirty="0">
                <a:solidFill>
                  <a:schemeClr val="bg1"/>
                </a:solidFill>
              </a:rPr>
              <a:t> appropriately.</a:t>
            </a:r>
          </a:p>
          <a:p>
            <a:pPr marL="285750" indent="-285750">
              <a:buFont typeface="Arial" panose="020B0604020202020204" pitchFamily="34" charset="0"/>
              <a:buChar char="•"/>
            </a:pPr>
            <a:r>
              <a:rPr lang="en-US" sz="1600" dirty="0">
                <a:solidFill>
                  <a:schemeClr val="bg1"/>
                </a:solidFill>
              </a:rPr>
              <a:t>Removing unnecessary columns to improve data quality and model performance.</a:t>
            </a:r>
          </a:p>
          <a:p>
            <a:pPr marL="285750" indent="-285750">
              <a:buFont typeface="Arial" panose="020B0604020202020204" pitchFamily="34" charset="0"/>
              <a:buChar char="•"/>
            </a:pPr>
            <a:r>
              <a:rPr lang="en-US" sz="1600" dirty="0">
                <a:solidFill>
                  <a:schemeClr val="bg1"/>
                </a:solidFill>
              </a:rPr>
              <a:t> Handling missing values by replacing nulls in </a:t>
            </a:r>
            <a:r>
              <a:rPr lang="en-US" sz="1600" b="1" dirty="0">
                <a:solidFill>
                  <a:schemeClr val="bg1"/>
                </a:solidFill>
              </a:rPr>
              <a:t>revenue and budget with 0</a:t>
            </a:r>
            <a:r>
              <a:rPr lang="en-US" sz="1600" dirty="0">
                <a:solidFill>
                  <a:schemeClr val="bg1"/>
                </a:solidFill>
              </a:rPr>
              <a:t> and filling missing </a:t>
            </a:r>
            <a:r>
              <a:rPr lang="en-US" sz="1600" b="1" dirty="0">
                <a:solidFill>
                  <a:schemeClr val="bg1"/>
                </a:solidFill>
              </a:rPr>
              <a:t>genres with “Unknown”</a:t>
            </a:r>
            <a:r>
              <a:rPr lang="en-US" sz="1600" dirty="0">
                <a:solidFill>
                  <a:schemeClr val="bg1"/>
                </a:solidFill>
              </a:rPr>
              <a:t>.</a:t>
            </a:r>
          </a:p>
          <a:p>
            <a:pPr marL="285750" indent="-285750">
              <a:buFont typeface="Arial" panose="020B0604020202020204" pitchFamily="34" charset="0"/>
              <a:buChar char="•"/>
            </a:pPr>
            <a:r>
              <a:rPr lang="en-US" sz="1600" dirty="0">
                <a:solidFill>
                  <a:schemeClr val="bg1"/>
                </a:solidFill>
              </a:rPr>
              <a:t> Cleaning text fields by removing extra spaces and inconsistencies using </a:t>
            </a:r>
            <a:r>
              <a:rPr lang="en-US" sz="1600" b="1" dirty="0">
                <a:solidFill>
                  <a:schemeClr val="bg1"/>
                </a:solidFill>
              </a:rPr>
              <a:t>Trim &amp; Clean</a:t>
            </a:r>
            <a:r>
              <a:rPr lang="en-US" sz="1600" dirty="0">
                <a:solidFill>
                  <a:schemeClr val="bg1"/>
                </a:solidFill>
              </a:rPr>
              <a:t> operations.</a:t>
            </a:r>
          </a:p>
          <a:p>
            <a:pPr marL="285750" indent="-285750">
              <a:buFont typeface="Arial" panose="020B0604020202020204" pitchFamily="34" charset="0"/>
              <a:buChar char="•"/>
            </a:pPr>
            <a:r>
              <a:rPr lang="en-US" sz="1600" dirty="0">
                <a:solidFill>
                  <a:schemeClr val="bg1"/>
                </a:solidFill>
              </a:rPr>
              <a:t> Splitting the </a:t>
            </a:r>
            <a:r>
              <a:rPr lang="en-US" sz="1600" b="1" dirty="0">
                <a:solidFill>
                  <a:schemeClr val="bg1"/>
                </a:solidFill>
              </a:rPr>
              <a:t>genre column</a:t>
            </a:r>
            <a:r>
              <a:rPr lang="en-US" sz="1600" dirty="0">
                <a:solidFill>
                  <a:schemeClr val="bg1"/>
                </a:solidFill>
              </a:rPr>
              <a:t> into multiple values for better genre-wise analysis.</a:t>
            </a:r>
          </a:p>
          <a:p>
            <a:pPr marL="285750" indent="-285750">
              <a:buFont typeface="Arial" panose="020B0604020202020204" pitchFamily="34" charset="0"/>
              <a:buChar char="•"/>
            </a:pPr>
            <a:r>
              <a:rPr lang="en-US" sz="1600" dirty="0">
                <a:solidFill>
                  <a:schemeClr val="bg1"/>
                </a:solidFill>
              </a:rPr>
              <a:t> Creating new columns such as </a:t>
            </a:r>
            <a:r>
              <a:rPr lang="en-US" sz="1600" b="1" dirty="0">
                <a:solidFill>
                  <a:schemeClr val="bg1"/>
                </a:solidFill>
              </a:rPr>
              <a:t>Profit (Revenue – Budget)</a:t>
            </a:r>
            <a:r>
              <a:rPr lang="en-US" sz="1600" dirty="0">
                <a:solidFill>
                  <a:schemeClr val="bg1"/>
                </a:solidFill>
              </a:rPr>
              <a:t> and movie category (Hit / Average / Flop).</a:t>
            </a:r>
          </a:p>
          <a:p>
            <a:pPr marL="285750" indent="-285750">
              <a:buFont typeface="Arial" panose="020B0604020202020204" pitchFamily="34" charset="0"/>
              <a:buChar char="•"/>
            </a:pPr>
            <a:r>
              <a:rPr lang="en-US" sz="1600" dirty="0">
                <a:solidFill>
                  <a:schemeClr val="bg1"/>
                </a:solidFill>
              </a:rPr>
              <a:t> Removing duplicate movie entries to ensure accurate analysis.</a:t>
            </a:r>
          </a:p>
          <a:p>
            <a:endParaRPr lang="en-US" sz="1600" dirty="0">
              <a:solidFill>
                <a:schemeClr val="bg1"/>
              </a:solidFill>
            </a:endParaRPr>
          </a:p>
          <a:p>
            <a:pPr marL="342900" indent="-342900">
              <a:spcAft>
                <a:spcPts val="500"/>
              </a:spcAft>
              <a:buSzPct val="100000"/>
              <a:buChar char="►"/>
            </a:pPr>
            <a:endParaRPr lang="en-US" sz="15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Key Metrics and KPI's</a:t>
            </a:r>
            <a:endParaRPr lang="en-US" sz="3200" dirty="0"/>
          </a:p>
        </p:txBody>
      </p:sp>
      <p:sp>
        <p:nvSpPr>
          <p:cNvPr id="4" name="Text 2"/>
          <p:cNvSpPr/>
          <p:nvPr/>
        </p:nvSpPr>
        <p:spPr>
          <a:xfrm>
            <a:off x="365760" y="822960"/>
            <a:ext cx="8229600" cy="36576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These KPIs give a quick snapshot of movie industry performance</a:t>
            </a:r>
            <a:endParaRPr lang="en-US" sz="1600" dirty="0"/>
          </a:p>
        </p:txBody>
      </p:sp>
      <p:sp>
        <p:nvSpPr>
          <p:cNvPr id="5" name="Text 3"/>
          <p:cNvSpPr/>
          <p:nvPr/>
        </p:nvSpPr>
        <p:spPr>
          <a:xfrm>
            <a:off x="365760" y="1261872"/>
            <a:ext cx="8229600" cy="1371600"/>
          </a:xfrm>
          <a:prstGeom prst="rect">
            <a:avLst/>
          </a:prstGeom>
          <a:noFill/>
          <a:ln/>
        </p:spPr>
        <p:txBody>
          <a:bodyPr wrap="square" lIns="0" tIns="0" rIns="0" bIns="0" rtlCol="0" anchor="ctr"/>
          <a:lstStyle/>
          <a:p>
            <a:pPr marL="0" indent="0">
              <a:spcAft>
                <a:spcPts val="1000"/>
              </a:spcAft>
              <a:buNone/>
            </a:pPr>
            <a:endParaRPr lang="en-US" dirty="0"/>
          </a:p>
        </p:txBody>
      </p:sp>
      <p:sp>
        <p:nvSpPr>
          <p:cNvPr id="7" name="Text 5"/>
          <p:cNvSpPr/>
          <p:nvPr/>
        </p:nvSpPr>
        <p:spPr>
          <a:xfrm>
            <a:off x="640080" y="3017520"/>
            <a:ext cx="2286000" cy="955548"/>
          </a:xfrm>
          <a:prstGeom prst="rect">
            <a:avLst/>
          </a:prstGeom>
          <a:noFill/>
          <a:ln/>
        </p:spPr>
        <p:txBody>
          <a:bodyPr wrap="square" lIns="0" tIns="0" rIns="0" bIns="0" rtlCol="0" anchor="ctr"/>
          <a:lstStyle/>
          <a:p>
            <a:pPr marL="0" indent="0" algn="ctr">
              <a:buNone/>
            </a:pPr>
            <a:endParaRPr lang="en-US" sz="3400" dirty="0"/>
          </a:p>
        </p:txBody>
      </p:sp>
      <p:sp>
        <p:nvSpPr>
          <p:cNvPr id="8" name="Text 6"/>
          <p:cNvSpPr/>
          <p:nvPr/>
        </p:nvSpPr>
        <p:spPr>
          <a:xfrm>
            <a:off x="594360" y="4003243"/>
            <a:ext cx="2377440" cy="555955"/>
          </a:xfrm>
          <a:prstGeom prst="rect">
            <a:avLst/>
          </a:prstGeom>
          <a:noFill/>
          <a:ln/>
        </p:spPr>
        <p:txBody>
          <a:bodyPr wrap="square" lIns="0" tIns="0" rIns="0" bIns="0" rtlCol="0" anchor="ctr"/>
          <a:lstStyle/>
          <a:p>
            <a:pPr marL="0" indent="0" algn="ctr">
              <a:buNone/>
            </a:pPr>
            <a:r>
              <a:rPr lang="en-US" sz="1400" b="1" dirty="0">
                <a:solidFill>
                  <a:srgbClr val="555555"/>
                </a:solidFill>
                <a:latin typeface="Trebuchet MS" pitchFamily="34" charset="0"/>
                <a:ea typeface="Trebuchet MS" pitchFamily="34" charset="-122"/>
                <a:cs typeface="Trebuchet MS" pitchFamily="34" charset="-120"/>
              </a:rPr>
              <a:t>e</a:t>
            </a:r>
            <a:endParaRPr lang="en-US" sz="1400" dirty="0"/>
          </a:p>
        </p:txBody>
      </p:sp>
      <p:sp>
        <p:nvSpPr>
          <p:cNvPr id="10" name="Text 8"/>
          <p:cNvSpPr/>
          <p:nvPr/>
        </p:nvSpPr>
        <p:spPr>
          <a:xfrm>
            <a:off x="3429000" y="3017520"/>
            <a:ext cx="2286000" cy="955548"/>
          </a:xfrm>
          <a:prstGeom prst="rect">
            <a:avLst/>
          </a:prstGeom>
          <a:noFill/>
          <a:ln/>
        </p:spPr>
        <p:txBody>
          <a:bodyPr wrap="square" lIns="0" tIns="0" rIns="0" bIns="0" rtlCol="0" anchor="ctr"/>
          <a:lstStyle/>
          <a:p>
            <a:pPr marL="0" indent="0" algn="ctr">
              <a:buNone/>
            </a:pPr>
            <a:endParaRPr lang="en-US" sz="3400" dirty="0"/>
          </a:p>
        </p:txBody>
      </p:sp>
      <p:sp>
        <p:nvSpPr>
          <p:cNvPr id="11" name="Text 9"/>
          <p:cNvSpPr/>
          <p:nvPr/>
        </p:nvSpPr>
        <p:spPr>
          <a:xfrm>
            <a:off x="3383280" y="4003243"/>
            <a:ext cx="2377440" cy="555955"/>
          </a:xfrm>
          <a:prstGeom prst="rect">
            <a:avLst/>
          </a:prstGeom>
          <a:noFill/>
          <a:ln/>
        </p:spPr>
        <p:txBody>
          <a:bodyPr wrap="square" lIns="0" tIns="0" rIns="0" bIns="0" rtlCol="0" anchor="ctr"/>
          <a:lstStyle/>
          <a:p>
            <a:pPr marL="0" indent="0" algn="ctr">
              <a:buNone/>
            </a:pPr>
            <a:endParaRPr lang="en-US" sz="1400" dirty="0"/>
          </a:p>
        </p:txBody>
      </p:sp>
      <p:sp>
        <p:nvSpPr>
          <p:cNvPr id="13" name="Text 11"/>
          <p:cNvSpPr/>
          <p:nvPr/>
        </p:nvSpPr>
        <p:spPr>
          <a:xfrm>
            <a:off x="6217920" y="3017520"/>
            <a:ext cx="2286000" cy="955548"/>
          </a:xfrm>
          <a:prstGeom prst="rect">
            <a:avLst/>
          </a:prstGeom>
          <a:noFill/>
          <a:ln/>
        </p:spPr>
        <p:txBody>
          <a:bodyPr wrap="square" lIns="0" tIns="0" rIns="0" bIns="0" rtlCol="0" anchor="ctr"/>
          <a:lstStyle/>
          <a:p>
            <a:pPr marL="0" indent="0" algn="ctr">
              <a:buNone/>
            </a:pPr>
            <a:endParaRPr lang="en-US" sz="3400" dirty="0"/>
          </a:p>
        </p:txBody>
      </p:sp>
      <p:sp>
        <p:nvSpPr>
          <p:cNvPr id="14" name="Text 12"/>
          <p:cNvSpPr/>
          <p:nvPr/>
        </p:nvSpPr>
        <p:spPr>
          <a:xfrm>
            <a:off x="6172200" y="4003243"/>
            <a:ext cx="2377440" cy="555955"/>
          </a:xfrm>
          <a:prstGeom prst="rect">
            <a:avLst/>
          </a:prstGeom>
          <a:noFill/>
          <a:ln/>
        </p:spPr>
        <p:txBody>
          <a:bodyPr wrap="square" lIns="0" tIns="0" rIns="0" bIns="0" rtlCol="0" anchor="ctr"/>
          <a:lstStyle/>
          <a:p>
            <a:pPr marL="0" indent="0" algn="ctr">
              <a:buNone/>
            </a:pPr>
            <a:endParaRPr lang="en-US" sz="1400" dirty="0"/>
          </a:p>
        </p:txBody>
      </p:sp>
      <p:pic>
        <p:nvPicPr>
          <p:cNvPr id="15" name="Picture 14">
            <a:extLst>
              <a:ext uri="{FF2B5EF4-FFF2-40B4-BE49-F238E27FC236}">
                <a16:creationId xmlns:a16="http://schemas.microsoft.com/office/drawing/2014/main" id="{4EE73C46-B15D-4C81-A7FD-3B581FEA9B01}"/>
              </a:ext>
            </a:extLst>
          </p:cNvPr>
          <p:cNvPicPr>
            <a:picLocks noChangeAspect="1"/>
          </p:cNvPicPr>
          <p:nvPr/>
        </p:nvPicPr>
        <p:blipFill>
          <a:blip r:embed="rId3"/>
          <a:stretch>
            <a:fillRect/>
          </a:stretch>
        </p:blipFill>
        <p:spPr>
          <a:xfrm>
            <a:off x="351771" y="1282773"/>
            <a:ext cx="8257578" cy="35382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Data Modelling – Overview</a:t>
            </a:r>
            <a:endParaRPr lang="en-US" sz="3200" dirty="0"/>
          </a:p>
        </p:txBody>
      </p:sp>
      <p:sp>
        <p:nvSpPr>
          <p:cNvPr id="4" name="Text 2"/>
          <p:cNvSpPr/>
          <p:nvPr/>
        </p:nvSpPr>
        <p:spPr>
          <a:xfrm>
            <a:off x="365760" y="914400"/>
            <a:ext cx="8229600" cy="54864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The Power BI data model is built on a star-schema structure with the central fact table connected to multiple dimension tables:</a:t>
            </a:r>
            <a:endParaRPr lang="en-US" sz="1600" dirty="0"/>
          </a:p>
        </p:txBody>
      </p:sp>
      <p:sp>
        <p:nvSpPr>
          <p:cNvPr id="6" name="Text 4"/>
          <p:cNvSpPr/>
          <p:nvPr/>
        </p:nvSpPr>
        <p:spPr>
          <a:xfrm>
            <a:off x="502920" y="1691640"/>
            <a:ext cx="3840480" cy="347472"/>
          </a:xfrm>
          <a:prstGeom prst="rect">
            <a:avLst/>
          </a:prstGeom>
          <a:noFill/>
          <a:ln/>
        </p:spPr>
        <p:txBody>
          <a:bodyPr wrap="square" lIns="0" tIns="0" rIns="0" bIns="0" rtlCol="0" anchor="ctr"/>
          <a:lstStyle/>
          <a:p>
            <a:pPr marL="0" indent="0">
              <a:buNone/>
            </a:pPr>
            <a:endParaRPr lang="en-US" sz="1400" dirty="0"/>
          </a:p>
        </p:txBody>
      </p:sp>
      <p:sp>
        <p:nvSpPr>
          <p:cNvPr id="7" name="Text 5"/>
          <p:cNvSpPr/>
          <p:nvPr/>
        </p:nvSpPr>
        <p:spPr>
          <a:xfrm>
            <a:off x="502920" y="2039112"/>
            <a:ext cx="3840480" cy="384048"/>
          </a:xfrm>
          <a:prstGeom prst="rect">
            <a:avLst/>
          </a:prstGeom>
          <a:noFill/>
          <a:ln/>
        </p:spPr>
        <p:txBody>
          <a:bodyPr wrap="square" lIns="0" tIns="0" rIns="0" bIns="0" rtlCol="0" anchor="ctr"/>
          <a:lstStyle/>
          <a:p>
            <a:pPr marL="0" indent="0">
              <a:buNone/>
            </a:pPr>
            <a:endParaRPr lang="en-US" sz="1200" dirty="0"/>
          </a:p>
        </p:txBody>
      </p:sp>
      <p:sp>
        <p:nvSpPr>
          <p:cNvPr id="9" name="Text 7"/>
          <p:cNvSpPr/>
          <p:nvPr/>
        </p:nvSpPr>
        <p:spPr>
          <a:xfrm>
            <a:off x="502920" y="2770632"/>
            <a:ext cx="3840480" cy="347472"/>
          </a:xfrm>
          <a:prstGeom prst="rect">
            <a:avLst/>
          </a:prstGeom>
          <a:noFill/>
          <a:ln/>
        </p:spPr>
        <p:txBody>
          <a:bodyPr wrap="square" lIns="0" tIns="0" rIns="0" bIns="0" rtlCol="0" anchor="ctr"/>
          <a:lstStyle/>
          <a:p>
            <a:pPr marL="0" indent="0">
              <a:buNone/>
            </a:pPr>
            <a:endParaRPr lang="en-US" sz="1400" dirty="0"/>
          </a:p>
        </p:txBody>
      </p:sp>
      <p:sp>
        <p:nvSpPr>
          <p:cNvPr id="10" name="Text 8"/>
          <p:cNvSpPr/>
          <p:nvPr/>
        </p:nvSpPr>
        <p:spPr>
          <a:xfrm>
            <a:off x="502920" y="3118104"/>
            <a:ext cx="3840480" cy="384048"/>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502920" y="3849624"/>
            <a:ext cx="3840480" cy="347472"/>
          </a:xfrm>
          <a:prstGeom prst="rect">
            <a:avLst/>
          </a:prstGeom>
          <a:noFill/>
          <a:ln/>
        </p:spPr>
        <p:txBody>
          <a:bodyPr wrap="square" lIns="0" tIns="0" rIns="0" bIns="0" rtlCol="0" anchor="ctr"/>
          <a:lstStyle/>
          <a:p>
            <a:pPr marL="0" indent="0">
              <a:buNone/>
            </a:pPr>
            <a:endParaRPr lang="en-US" sz="1400" dirty="0"/>
          </a:p>
        </p:txBody>
      </p:sp>
      <p:sp>
        <p:nvSpPr>
          <p:cNvPr id="13" name="Text 11"/>
          <p:cNvSpPr/>
          <p:nvPr/>
        </p:nvSpPr>
        <p:spPr>
          <a:xfrm>
            <a:off x="502920" y="4197096"/>
            <a:ext cx="3840480" cy="384048"/>
          </a:xfrm>
          <a:prstGeom prst="rect">
            <a:avLst/>
          </a:prstGeom>
          <a:noFill/>
          <a:ln/>
        </p:spPr>
        <p:txBody>
          <a:bodyPr wrap="square" lIns="0" tIns="0" rIns="0" bIns="0" rtlCol="0" anchor="ctr"/>
          <a:lstStyle/>
          <a:p>
            <a:endParaRPr lang="en-US" sz="1200" dirty="0">
              <a:solidFill>
                <a:schemeClr val="bg1"/>
              </a:solidFill>
              <a:latin typeface="Trebuchet MS" panose="020B0603020202020204" pitchFamily="34" charset="0"/>
            </a:endParaRPr>
          </a:p>
        </p:txBody>
      </p:sp>
      <p:sp>
        <p:nvSpPr>
          <p:cNvPr id="15" name="Text 13"/>
          <p:cNvSpPr/>
          <p:nvPr/>
        </p:nvSpPr>
        <p:spPr>
          <a:xfrm>
            <a:off x="4892040" y="1691640"/>
            <a:ext cx="3840480" cy="347472"/>
          </a:xfrm>
          <a:prstGeom prst="rect">
            <a:avLst/>
          </a:prstGeom>
          <a:noFill/>
          <a:ln/>
        </p:spPr>
        <p:txBody>
          <a:bodyPr wrap="square" lIns="0" tIns="0" rIns="0" bIns="0" rtlCol="0" anchor="ctr"/>
          <a:lstStyle/>
          <a:p>
            <a:endParaRPr lang="en-US" sz="1400" dirty="0"/>
          </a:p>
        </p:txBody>
      </p:sp>
      <p:sp>
        <p:nvSpPr>
          <p:cNvPr id="16" name="Text 14"/>
          <p:cNvSpPr/>
          <p:nvPr/>
        </p:nvSpPr>
        <p:spPr>
          <a:xfrm>
            <a:off x="4892040" y="2039112"/>
            <a:ext cx="3840480" cy="384048"/>
          </a:xfrm>
          <a:prstGeom prst="rect">
            <a:avLst/>
          </a:prstGeom>
          <a:noFill/>
          <a:ln/>
        </p:spPr>
        <p:txBody>
          <a:bodyPr wrap="square" lIns="0" tIns="0" rIns="0" bIns="0" rtlCol="0" anchor="ctr"/>
          <a:lstStyle/>
          <a:p>
            <a:pPr marL="0" indent="0">
              <a:buNone/>
            </a:pPr>
            <a:endParaRPr lang="en-US" sz="1200" dirty="0"/>
          </a:p>
        </p:txBody>
      </p:sp>
      <p:sp>
        <p:nvSpPr>
          <p:cNvPr id="18" name="Text 16"/>
          <p:cNvSpPr/>
          <p:nvPr/>
        </p:nvSpPr>
        <p:spPr>
          <a:xfrm>
            <a:off x="4892040" y="2770632"/>
            <a:ext cx="3840480" cy="347472"/>
          </a:xfrm>
          <a:prstGeom prst="rect">
            <a:avLst/>
          </a:prstGeom>
          <a:noFill/>
          <a:ln/>
        </p:spPr>
        <p:txBody>
          <a:bodyPr wrap="square" lIns="0" tIns="0" rIns="0" bIns="0" rtlCol="0" anchor="ctr"/>
          <a:lstStyle/>
          <a:p>
            <a:pPr marL="0" indent="0">
              <a:buNone/>
            </a:pPr>
            <a:endParaRPr lang="en-US" sz="1400" dirty="0"/>
          </a:p>
        </p:txBody>
      </p:sp>
      <p:sp>
        <p:nvSpPr>
          <p:cNvPr id="19" name="Text 17"/>
          <p:cNvSpPr/>
          <p:nvPr/>
        </p:nvSpPr>
        <p:spPr>
          <a:xfrm>
            <a:off x="4892040" y="3118104"/>
            <a:ext cx="3840480" cy="384048"/>
          </a:xfrm>
          <a:prstGeom prst="rect">
            <a:avLst/>
          </a:prstGeom>
          <a:noFill/>
          <a:ln/>
        </p:spPr>
        <p:txBody>
          <a:bodyPr wrap="square" lIns="0" tIns="0" rIns="0" bIns="0" rtlCol="0" anchor="ctr"/>
          <a:lstStyle/>
          <a:p>
            <a:pPr marL="0" indent="0">
              <a:buNone/>
            </a:pPr>
            <a:endParaRPr lang="en-US" sz="1200" dirty="0"/>
          </a:p>
        </p:txBody>
      </p:sp>
      <p:sp>
        <p:nvSpPr>
          <p:cNvPr id="21" name="Text 19"/>
          <p:cNvSpPr/>
          <p:nvPr/>
        </p:nvSpPr>
        <p:spPr>
          <a:xfrm>
            <a:off x="4892040" y="3849624"/>
            <a:ext cx="3840480" cy="347472"/>
          </a:xfrm>
          <a:prstGeom prst="rect">
            <a:avLst/>
          </a:prstGeom>
          <a:noFill/>
          <a:ln/>
        </p:spPr>
        <p:txBody>
          <a:bodyPr wrap="square" lIns="0" tIns="0" rIns="0" bIns="0" rtlCol="0" anchor="ctr"/>
          <a:lstStyle/>
          <a:p>
            <a:endParaRPr lang="en-US" sz="1400" dirty="0"/>
          </a:p>
        </p:txBody>
      </p:sp>
      <p:sp>
        <p:nvSpPr>
          <p:cNvPr id="22" name="Text 20"/>
          <p:cNvSpPr/>
          <p:nvPr/>
        </p:nvSpPr>
        <p:spPr>
          <a:xfrm>
            <a:off x="5098102" y="4081958"/>
            <a:ext cx="3840480" cy="384048"/>
          </a:xfrm>
          <a:prstGeom prst="rect">
            <a:avLst/>
          </a:prstGeom>
          <a:noFill/>
          <a:ln/>
        </p:spPr>
        <p:txBody>
          <a:bodyPr wrap="square" lIns="0" tIns="0" rIns="0" bIns="0" rtlCol="0" anchor="ctr"/>
          <a:lstStyle/>
          <a:p>
            <a:pPr marL="0" indent="0">
              <a:buNone/>
            </a:pPr>
            <a:endParaRPr lang="en-US" sz="1200" dirty="0"/>
          </a:p>
        </p:txBody>
      </p:sp>
      <p:pic>
        <p:nvPicPr>
          <p:cNvPr id="5" name="Picture 4">
            <a:extLst>
              <a:ext uri="{FF2B5EF4-FFF2-40B4-BE49-F238E27FC236}">
                <a16:creationId xmlns:a16="http://schemas.microsoft.com/office/drawing/2014/main" id="{CBEAC457-1B5A-480F-B5A4-2B73A7356EDF}"/>
              </a:ext>
            </a:extLst>
          </p:cNvPr>
          <p:cNvPicPr>
            <a:picLocks noChangeAspect="1"/>
          </p:cNvPicPr>
          <p:nvPr/>
        </p:nvPicPr>
        <p:blipFill>
          <a:blip r:embed="rId3"/>
          <a:stretch>
            <a:fillRect/>
          </a:stretch>
        </p:blipFill>
        <p:spPr>
          <a:xfrm>
            <a:off x="827315" y="1516017"/>
            <a:ext cx="6891960" cy="33390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DAX Measures</a:t>
            </a:r>
            <a:endParaRPr lang="en-US" sz="3200" dirty="0"/>
          </a:p>
        </p:txBody>
      </p:sp>
      <p:sp>
        <p:nvSpPr>
          <p:cNvPr id="4" name="Text 2"/>
          <p:cNvSpPr/>
          <p:nvPr/>
        </p:nvSpPr>
        <p:spPr>
          <a:xfrm>
            <a:off x="365760" y="914400"/>
            <a:ext cx="8229600" cy="347472"/>
          </a:xfrm>
          <a:prstGeom prst="rect">
            <a:avLst/>
          </a:prstGeom>
          <a:noFill/>
          <a:ln/>
        </p:spPr>
        <p:txBody>
          <a:bodyPr wrap="square" lIns="0" tIns="0" rIns="0" bIns="0" rtlCol="0" anchor="ctr"/>
          <a:lstStyle/>
          <a:p>
            <a:pPr marL="0" indent="0">
              <a:buNone/>
            </a:pPr>
            <a:r>
              <a:rPr lang="en-US" sz="1700" dirty="0">
                <a:solidFill>
                  <a:srgbClr val="FFFFFF"/>
                </a:solidFill>
                <a:latin typeface="Trebuchet MS" pitchFamily="34" charset="0"/>
                <a:ea typeface="Trebuchet MS" pitchFamily="34" charset="-122"/>
                <a:cs typeface="Trebuchet MS" pitchFamily="34" charset="-120"/>
              </a:rPr>
              <a:t>DAX is called as Data Analytic Expression.</a:t>
            </a:r>
            <a:endParaRPr lang="en-US" sz="1700" dirty="0"/>
          </a:p>
        </p:txBody>
      </p:sp>
      <p:sp>
        <p:nvSpPr>
          <p:cNvPr id="5" name="Text 3"/>
          <p:cNvSpPr/>
          <p:nvPr/>
        </p:nvSpPr>
        <p:spPr>
          <a:xfrm>
            <a:off x="365760" y="1261872"/>
            <a:ext cx="8229600" cy="347472"/>
          </a:xfrm>
          <a:prstGeom prst="rect">
            <a:avLst/>
          </a:prstGeom>
          <a:noFill/>
          <a:ln/>
        </p:spPr>
        <p:txBody>
          <a:bodyPr wrap="square" lIns="0" tIns="0" rIns="0" bIns="0" rtlCol="0" anchor="ctr"/>
          <a:lstStyle/>
          <a:p>
            <a:pPr marL="0" indent="0">
              <a:buNone/>
            </a:pPr>
            <a:r>
              <a:rPr lang="en-US" sz="1600" dirty="0">
                <a:solidFill>
                  <a:srgbClr val="C8E0DC"/>
                </a:solidFill>
                <a:latin typeface="Trebuchet MS" pitchFamily="34" charset="0"/>
                <a:ea typeface="Trebuchet MS" pitchFamily="34" charset="-122"/>
                <a:cs typeface="Trebuchet MS" pitchFamily="34" charset="-120"/>
              </a:rPr>
              <a:t>DAX is a formula language used in Power BI to perform calculations and data analysis.</a:t>
            </a:r>
            <a:endParaRPr lang="en-US" sz="1600" dirty="0"/>
          </a:p>
        </p:txBody>
      </p:sp>
      <p:sp>
        <p:nvSpPr>
          <p:cNvPr id="6" name="Text 4"/>
          <p:cNvSpPr/>
          <p:nvPr/>
        </p:nvSpPr>
        <p:spPr>
          <a:xfrm>
            <a:off x="365760" y="1737360"/>
            <a:ext cx="8229600" cy="384048"/>
          </a:xfrm>
          <a:prstGeom prst="rect">
            <a:avLst/>
          </a:prstGeom>
          <a:noFill/>
          <a:ln/>
        </p:spPr>
        <p:txBody>
          <a:bodyPr wrap="square" lIns="0" tIns="0" rIns="0" bIns="0" rtlCol="0" anchor="ctr"/>
          <a:lstStyle/>
          <a:p>
            <a:pPr marL="0" indent="0">
              <a:buNone/>
            </a:pPr>
            <a:r>
              <a:rPr lang="en-US" sz="1800" b="1" dirty="0">
                <a:solidFill>
                  <a:srgbClr val="C084FC"/>
                </a:solidFill>
              </a:rPr>
              <a:t>✓ </a:t>
            </a:r>
            <a:r>
              <a:rPr lang="en-US" sz="1800" b="1" dirty="0">
                <a:solidFill>
                  <a:srgbClr val="FFFFFF"/>
                </a:solidFill>
                <a:latin typeface="Trebuchet MS" pitchFamily="34" charset="0"/>
                <a:ea typeface="Trebuchet MS" pitchFamily="34" charset="-122"/>
                <a:cs typeface="Trebuchet MS" pitchFamily="34" charset="-120"/>
              </a:rPr>
              <a:t>Measures:</a:t>
            </a:r>
            <a:endParaRPr lang="en-US" sz="1800" dirty="0"/>
          </a:p>
        </p:txBody>
      </p:sp>
      <p:sp>
        <p:nvSpPr>
          <p:cNvPr id="7" name="Text 5"/>
          <p:cNvSpPr/>
          <p:nvPr/>
        </p:nvSpPr>
        <p:spPr>
          <a:xfrm>
            <a:off x="548640" y="22402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Total Revenue </a:t>
            </a:r>
            <a:r>
              <a:rPr lang="en-US" sz="1400" dirty="0">
                <a:solidFill>
                  <a:srgbClr val="C8E0DC"/>
                </a:solidFill>
                <a:latin typeface="Courier New" pitchFamily="34" charset="0"/>
                <a:ea typeface="Courier New" pitchFamily="34" charset="-122"/>
                <a:cs typeface="Courier New" pitchFamily="34" charset="-120"/>
              </a:rPr>
              <a:t>= SUM('Movie Data'[Revenue])</a:t>
            </a:r>
            <a:endParaRPr lang="en-US" sz="1500" dirty="0"/>
          </a:p>
        </p:txBody>
      </p:sp>
      <p:sp>
        <p:nvSpPr>
          <p:cNvPr id="8" name="Text 6"/>
          <p:cNvSpPr/>
          <p:nvPr/>
        </p:nvSpPr>
        <p:spPr>
          <a:xfrm>
            <a:off x="548640" y="26974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Total Profit </a:t>
            </a:r>
            <a:r>
              <a:rPr lang="en-US" sz="1400" dirty="0">
                <a:solidFill>
                  <a:srgbClr val="C8E0DC"/>
                </a:solidFill>
                <a:latin typeface="Courier New" pitchFamily="34" charset="0"/>
                <a:ea typeface="Courier New" pitchFamily="34" charset="-122"/>
                <a:cs typeface="Courier New" pitchFamily="34" charset="-120"/>
              </a:rPr>
              <a:t>= SUM('Movie Data'[Revenue]) - SUM('Movie Data'[Budget])</a:t>
            </a:r>
            <a:endParaRPr lang="en-US" sz="1500" dirty="0"/>
          </a:p>
        </p:txBody>
      </p:sp>
      <p:sp>
        <p:nvSpPr>
          <p:cNvPr id="9" name="Text 7"/>
          <p:cNvSpPr/>
          <p:nvPr/>
        </p:nvSpPr>
        <p:spPr>
          <a:xfrm>
            <a:off x="548640" y="31546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Total Movies </a:t>
            </a:r>
            <a:r>
              <a:rPr lang="en-US" sz="1400" dirty="0">
                <a:solidFill>
                  <a:srgbClr val="C8E0DC"/>
                </a:solidFill>
                <a:latin typeface="Courier New" pitchFamily="34" charset="0"/>
                <a:ea typeface="Courier New" pitchFamily="34" charset="-122"/>
                <a:cs typeface="Courier New" pitchFamily="34" charset="-120"/>
              </a:rPr>
              <a:t>= DISTINCTCOUNT('Movie Data'[Movie_ID])</a:t>
            </a:r>
            <a:endParaRPr lang="en-US" sz="1500" dirty="0"/>
          </a:p>
        </p:txBody>
      </p:sp>
      <p:sp>
        <p:nvSpPr>
          <p:cNvPr id="10" name="Text 8"/>
          <p:cNvSpPr/>
          <p:nvPr/>
        </p:nvSpPr>
        <p:spPr>
          <a:xfrm>
            <a:off x="548640" y="36118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Average Rating </a:t>
            </a:r>
            <a:r>
              <a:rPr lang="en-US" sz="1400" dirty="0">
                <a:solidFill>
                  <a:srgbClr val="C8E0DC"/>
                </a:solidFill>
                <a:latin typeface="Courier New" pitchFamily="34" charset="0"/>
                <a:ea typeface="Courier New" pitchFamily="34" charset="-122"/>
                <a:cs typeface="Courier New" pitchFamily="34" charset="-120"/>
              </a:rPr>
              <a:t>= AVERAGE('Movie Data'[Rating])</a:t>
            </a:r>
            <a:endParaRPr lang="en-US" sz="1500" dirty="0"/>
          </a:p>
        </p:txBody>
      </p:sp>
      <p:sp>
        <p:nvSpPr>
          <p:cNvPr id="11" name="Text 9"/>
          <p:cNvSpPr/>
          <p:nvPr/>
        </p:nvSpPr>
        <p:spPr>
          <a:xfrm>
            <a:off x="548640" y="40690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Average Budget </a:t>
            </a:r>
            <a:r>
              <a:rPr lang="en-US" sz="1400" dirty="0">
                <a:solidFill>
                  <a:srgbClr val="C8E0DC"/>
                </a:solidFill>
                <a:latin typeface="Courier New" pitchFamily="34" charset="0"/>
                <a:ea typeface="Courier New" pitchFamily="34" charset="-122"/>
                <a:cs typeface="Courier New" pitchFamily="34" charset="-120"/>
              </a:rPr>
              <a:t>= AVERAGE('Movie Data'[Budget])</a:t>
            </a:r>
            <a:endParaRPr lang="en-US" sz="1500" dirty="0"/>
          </a:p>
        </p:txBody>
      </p:sp>
      <p:sp>
        <p:nvSpPr>
          <p:cNvPr id="12" name="Text 10"/>
          <p:cNvSpPr/>
          <p:nvPr/>
        </p:nvSpPr>
        <p:spPr>
          <a:xfrm>
            <a:off x="548640" y="45262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Revenue LY </a:t>
            </a:r>
            <a:r>
              <a:rPr lang="en-US" sz="1400" dirty="0">
                <a:solidFill>
                  <a:srgbClr val="C8E0DC"/>
                </a:solidFill>
                <a:latin typeface="Courier New" pitchFamily="34" charset="0"/>
                <a:ea typeface="Courier New" pitchFamily="34" charset="-122"/>
                <a:cs typeface="Courier New" pitchFamily="34" charset="-120"/>
              </a:rPr>
              <a:t>= CALCULATE([Total Revenue], SAMEPERIODLASTYEAR('Calendar'[Date]))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Power BI Dashboard Overview</a:t>
            </a:r>
            <a:endParaRPr lang="en-US" sz="3200" dirty="0"/>
          </a:p>
        </p:txBody>
      </p:sp>
      <p:sp>
        <p:nvSpPr>
          <p:cNvPr id="4" name="Text 2"/>
          <p:cNvSpPr/>
          <p:nvPr/>
        </p:nvSpPr>
        <p:spPr>
          <a:xfrm>
            <a:off x="365760" y="914400"/>
            <a:ext cx="8229600" cy="594360"/>
          </a:xfrm>
          <a:prstGeom prst="rect">
            <a:avLst/>
          </a:prstGeom>
          <a:noFill/>
          <a:ln/>
        </p:spPr>
        <p:txBody>
          <a:bodyPr wrap="square" lIns="0" tIns="0" rIns="0" bIns="0" rtlCol="0" anchor="ctr"/>
          <a:lstStyle/>
          <a:p>
            <a:pPr marL="0" indent="0">
              <a:buNone/>
            </a:pPr>
            <a:r>
              <a:rPr lang="en-US" sz="1700" dirty="0">
                <a:solidFill>
                  <a:srgbClr val="FFFFFF"/>
                </a:solidFill>
                <a:latin typeface="Trebuchet MS" pitchFamily="34" charset="0"/>
                <a:ea typeface="Trebuchet MS" pitchFamily="34" charset="-122"/>
                <a:cs typeface="Trebuchet MS" pitchFamily="34" charset="-120"/>
              </a:rPr>
              <a:t>The Movie Performance Dashboard in Power BI is designed to provide a comprehensive, at-a-glance view of the entire movie industry dataset.</a:t>
            </a:r>
            <a:endParaRPr lang="en-US" sz="1700" dirty="0"/>
          </a:p>
        </p:txBody>
      </p:sp>
      <p:sp>
        <p:nvSpPr>
          <p:cNvPr id="5" name="Shape 3"/>
          <p:cNvSpPr/>
          <p:nvPr/>
        </p:nvSpPr>
        <p:spPr>
          <a:xfrm>
            <a:off x="365760" y="1645920"/>
            <a:ext cx="4114800" cy="914400"/>
          </a:xfrm>
          <a:prstGeom prst="rect">
            <a:avLst/>
          </a:prstGeom>
          <a:solidFill>
            <a:srgbClr val="1A5555"/>
          </a:solidFill>
          <a:ln w="12700">
            <a:solidFill>
              <a:srgbClr val="B0CCCA"/>
            </a:solidFill>
            <a:prstDash val="solid"/>
          </a:ln>
        </p:spPr>
      </p:sp>
      <p:sp>
        <p:nvSpPr>
          <p:cNvPr id="6" name="Text 4"/>
          <p:cNvSpPr/>
          <p:nvPr/>
        </p:nvSpPr>
        <p:spPr>
          <a:xfrm>
            <a:off x="502920" y="171907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KPI Cards</a:t>
            </a:r>
            <a:endParaRPr lang="en-US" sz="1400" dirty="0"/>
          </a:p>
        </p:txBody>
      </p:sp>
      <p:sp>
        <p:nvSpPr>
          <p:cNvPr id="7" name="Text 5"/>
          <p:cNvSpPr/>
          <p:nvPr/>
        </p:nvSpPr>
        <p:spPr>
          <a:xfrm>
            <a:off x="502920" y="208483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Total Revenue · Total Profit · Total Movies · Avg Rating · Avg Budget</a:t>
            </a:r>
            <a:endParaRPr lang="en-US" sz="1200" dirty="0"/>
          </a:p>
        </p:txBody>
      </p:sp>
      <p:sp>
        <p:nvSpPr>
          <p:cNvPr id="8" name="Shape 6"/>
          <p:cNvSpPr/>
          <p:nvPr/>
        </p:nvSpPr>
        <p:spPr>
          <a:xfrm>
            <a:off x="4754880" y="1645920"/>
            <a:ext cx="4114800" cy="914400"/>
          </a:xfrm>
          <a:prstGeom prst="rect">
            <a:avLst/>
          </a:prstGeom>
          <a:solidFill>
            <a:srgbClr val="1A5555"/>
          </a:solidFill>
          <a:ln w="12700">
            <a:solidFill>
              <a:srgbClr val="B0CCCA"/>
            </a:solidFill>
            <a:prstDash val="solid"/>
          </a:ln>
        </p:spPr>
      </p:sp>
      <p:sp>
        <p:nvSpPr>
          <p:cNvPr id="9" name="Text 7"/>
          <p:cNvSpPr/>
          <p:nvPr/>
        </p:nvSpPr>
        <p:spPr>
          <a:xfrm>
            <a:off x="4892040" y="171907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Genre Revenue Chart</a:t>
            </a:r>
            <a:endParaRPr lang="en-US" sz="1400" dirty="0"/>
          </a:p>
        </p:txBody>
      </p:sp>
      <p:sp>
        <p:nvSpPr>
          <p:cNvPr id="10" name="Text 8"/>
          <p:cNvSpPr/>
          <p:nvPr/>
        </p:nvSpPr>
        <p:spPr>
          <a:xfrm>
            <a:off x="4892040" y="208483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Horizontal bar chart showing top genres by total revenue</a:t>
            </a:r>
            <a:endParaRPr lang="en-US" sz="1200" dirty="0"/>
          </a:p>
        </p:txBody>
      </p:sp>
      <p:sp>
        <p:nvSpPr>
          <p:cNvPr id="11" name="Shape 9"/>
          <p:cNvSpPr/>
          <p:nvPr/>
        </p:nvSpPr>
        <p:spPr>
          <a:xfrm>
            <a:off x="365760" y="2743200"/>
            <a:ext cx="4114800" cy="914400"/>
          </a:xfrm>
          <a:prstGeom prst="rect">
            <a:avLst/>
          </a:prstGeom>
          <a:solidFill>
            <a:srgbClr val="1A5555"/>
          </a:solidFill>
          <a:ln w="12700">
            <a:solidFill>
              <a:srgbClr val="B0CCCA"/>
            </a:solidFill>
            <a:prstDash val="solid"/>
          </a:ln>
        </p:spPr>
      </p:sp>
      <p:sp>
        <p:nvSpPr>
          <p:cNvPr id="12" name="Text 10"/>
          <p:cNvSpPr/>
          <p:nvPr/>
        </p:nvSpPr>
        <p:spPr>
          <a:xfrm>
            <a:off x="502920" y="281635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Revenue Trend Line</a:t>
            </a:r>
            <a:endParaRPr lang="en-US" sz="1400" dirty="0"/>
          </a:p>
        </p:txBody>
      </p:sp>
      <p:sp>
        <p:nvSpPr>
          <p:cNvPr id="13" name="Text 11"/>
          <p:cNvSpPr/>
          <p:nvPr/>
        </p:nvSpPr>
        <p:spPr>
          <a:xfrm>
            <a:off x="502920" y="318211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Area/line chart showing revenue growth from 1850–2024</a:t>
            </a:r>
            <a:endParaRPr lang="en-US" sz="1200" dirty="0"/>
          </a:p>
        </p:txBody>
      </p:sp>
      <p:sp>
        <p:nvSpPr>
          <p:cNvPr id="14" name="Shape 12"/>
          <p:cNvSpPr/>
          <p:nvPr/>
        </p:nvSpPr>
        <p:spPr>
          <a:xfrm>
            <a:off x="4754880" y="2743200"/>
            <a:ext cx="4114800" cy="914400"/>
          </a:xfrm>
          <a:prstGeom prst="rect">
            <a:avLst/>
          </a:prstGeom>
          <a:solidFill>
            <a:srgbClr val="1A5555"/>
          </a:solidFill>
          <a:ln w="12700">
            <a:solidFill>
              <a:srgbClr val="B0CCCA"/>
            </a:solidFill>
            <a:prstDash val="solid"/>
          </a:ln>
        </p:spPr>
      </p:sp>
      <p:sp>
        <p:nvSpPr>
          <p:cNvPr id="15" name="Text 13"/>
          <p:cNvSpPr/>
          <p:nvPr/>
        </p:nvSpPr>
        <p:spPr>
          <a:xfrm>
            <a:off x="4892040" y="281635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Status Donut</a:t>
            </a:r>
            <a:endParaRPr lang="en-US" sz="1400" dirty="0"/>
          </a:p>
        </p:txBody>
      </p:sp>
      <p:sp>
        <p:nvSpPr>
          <p:cNvPr id="16" name="Text 14"/>
          <p:cNvSpPr/>
          <p:nvPr/>
        </p:nvSpPr>
        <p:spPr>
          <a:xfrm>
            <a:off x="4892040" y="318211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Pie/donut showing Released vs In Production vs others</a:t>
            </a:r>
            <a:endParaRPr lang="en-US" sz="1200" dirty="0"/>
          </a:p>
        </p:txBody>
      </p:sp>
      <p:sp>
        <p:nvSpPr>
          <p:cNvPr id="17" name="Shape 15"/>
          <p:cNvSpPr/>
          <p:nvPr/>
        </p:nvSpPr>
        <p:spPr>
          <a:xfrm>
            <a:off x="365760" y="3840480"/>
            <a:ext cx="4114800" cy="914400"/>
          </a:xfrm>
          <a:prstGeom prst="rect">
            <a:avLst/>
          </a:prstGeom>
          <a:solidFill>
            <a:srgbClr val="1A5555"/>
          </a:solidFill>
          <a:ln w="12700">
            <a:solidFill>
              <a:srgbClr val="B0CCCA"/>
            </a:solidFill>
            <a:prstDash val="solid"/>
          </a:ln>
        </p:spPr>
      </p:sp>
      <p:sp>
        <p:nvSpPr>
          <p:cNvPr id="18" name="Text 16"/>
          <p:cNvSpPr/>
          <p:nvPr/>
        </p:nvSpPr>
        <p:spPr>
          <a:xfrm>
            <a:off x="502920" y="391363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Language Treemap</a:t>
            </a:r>
            <a:endParaRPr lang="en-US" sz="1400" dirty="0"/>
          </a:p>
        </p:txBody>
      </p:sp>
      <p:sp>
        <p:nvSpPr>
          <p:cNvPr id="19" name="Text 17"/>
          <p:cNvSpPr/>
          <p:nvPr/>
        </p:nvSpPr>
        <p:spPr>
          <a:xfrm>
            <a:off x="502920" y="427939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Visual map of movie count by original language</a:t>
            </a:r>
            <a:endParaRPr lang="en-US" sz="1200" dirty="0"/>
          </a:p>
        </p:txBody>
      </p:sp>
      <p:sp>
        <p:nvSpPr>
          <p:cNvPr id="20" name="Shape 18"/>
          <p:cNvSpPr/>
          <p:nvPr/>
        </p:nvSpPr>
        <p:spPr>
          <a:xfrm>
            <a:off x="4754880" y="3840480"/>
            <a:ext cx="4114800" cy="914400"/>
          </a:xfrm>
          <a:prstGeom prst="rect">
            <a:avLst/>
          </a:prstGeom>
          <a:solidFill>
            <a:srgbClr val="1A5555"/>
          </a:solidFill>
          <a:ln w="12700">
            <a:solidFill>
              <a:srgbClr val="B0CCCA"/>
            </a:solidFill>
            <a:prstDash val="solid"/>
          </a:ln>
        </p:spPr>
      </p:sp>
      <p:sp>
        <p:nvSpPr>
          <p:cNvPr id="21" name="Text 19"/>
          <p:cNvSpPr/>
          <p:nvPr/>
        </p:nvSpPr>
        <p:spPr>
          <a:xfrm>
            <a:off x="4892040" y="391363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Country Map</a:t>
            </a:r>
            <a:endParaRPr lang="en-US" sz="1400" dirty="0"/>
          </a:p>
        </p:txBody>
      </p:sp>
      <p:sp>
        <p:nvSpPr>
          <p:cNvPr id="22" name="Text 20"/>
          <p:cNvSpPr/>
          <p:nvPr/>
        </p:nvSpPr>
        <p:spPr>
          <a:xfrm>
            <a:off x="4892040" y="427939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Global map of movie production volume by country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77470"/>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Overall Revenue Trend Analysis</a:t>
            </a:r>
            <a:endParaRPr lang="en-US" sz="3200" dirty="0"/>
          </a:p>
        </p:txBody>
      </p:sp>
      <p:graphicFrame>
        <p:nvGraphicFramePr>
          <p:cNvPr id="4" name="Chart 0"/>
          <p:cNvGraphicFramePr/>
          <p:nvPr/>
        </p:nvGraphicFramePr>
        <p:xfrm>
          <a:off x="365760" y="914400"/>
          <a:ext cx="84124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297680"/>
            <a:ext cx="5029200" cy="548640"/>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Area Chart: </a:t>
            </a:r>
            <a:r>
              <a:rPr lang="en-US" sz="1500" dirty="0">
                <a:solidFill>
                  <a:srgbClr val="FFFFFF"/>
                </a:solidFill>
                <a:latin typeface="Trebuchet MS" pitchFamily="34" charset="0"/>
                <a:ea typeface="Trebuchet MS" pitchFamily="34" charset="-122"/>
                <a:cs typeface="Trebuchet MS" pitchFamily="34" charset="-120"/>
              </a:rPr>
              <a:t>It clearly shows total revenue over time and allows you to see growth patterns and peaks.</a:t>
            </a:r>
            <a:endParaRPr lang="en-US" sz="1500" dirty="0"/>
          </a:p>
        </p:txBody>
      </p:sp>
      <p:sp>
        <p:nvSpPr>
          <p:cNvPr id="6" name="Text 3"/>
          <p:cNvSpPr/>
          <p:nvPr/>
        </p:nvSpPr>
        <p:spPr>
          <a:xfrm>
            <a:off x="5669280" y="4297680"/>
            <a:ext cx="3200400" cy="548640"/>
          </a:xfrm>
          <a:prstGeom prst="rect">
            <a:avLst/>
          </a:prstGeom>
          <a:noFill/>
          <a:ln/>
        </p:spPr>
        <p:txBody>
          <a:bodyPr wrap="square" lIns="0" tIns="0" rIns="0" bIns="0" rtlCol="0" anchor="ctr"/>
          <a:lstStyle/>
          <a:p>
            <a:pPr marL="0" indent="0">
              <a:buNone/>
            </a:pPr>
            <a:r>
              <a:rPr lang="en-US" sz="1300" dirty="0">
                <a:solidFill>
                  <a:srgbClr val="C8E0DC"/>
                </a:solidFill>
                <a:latin typeface="Trebuchet MS" pitchFamily="34" charset="0"/>
                <a:ea typeface="Trebuchet MS" pitchFamily="34" charset="-122"/>
                <a:cs typeface="Trebuchet MS" pitchFamily="34" charset="-120"/>
              </a:rPr>
              <a:t>X-axis: Year (1850 → 2024)</a:t>
            </a:r>
            <a:endParaRPr lang="en-US" sz="1300" dirty="0"/>
          </a:p>
          <a:p>
            <a:pPr marL="0" indent="0">
              <a:buNone/>
            </a:pPr>
            <a:r>
              <a:rPr lang="en-US" sz="1300" dirty="0">
                <a:solidFill>
                  <a:srgbClr val="C8E0DC"/>
                </a:solidFill>
                <a:latin typeface="Trebuchet MS" pitchFamily="34" charset="0"/>
                <a:ea typeface="Trebuchet MS" pitchFamily="34" charset="-122"/>
                <a:cs typeface="Trebuchet MS" pitchFamily="34" charset="-120"/>
              </a:rPr>
              <a:t>Y-axis: Revenue Index</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Top Selling Genre based on Revenue</a:t>
            </a:r>
            <a:endParaRPr lang="en-US" sz="3200" dirty="0"/>
          </a:p>
        </p:txBody>
      </p:sp>
      <p:graphicFrame>
        <p:nvGraphicFramePr>
          <p:cNvPr id="4" name="Chart 0"/>
          <p:cNvGraphicFramePr/>
          <p:nvPr/>
        </p:nvGraphicFramePr>
        <p:xfrm>
          <a:off x="365760" y="914400"/>
          <a:ext cx="4572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212080" y="1005840"/>
            <a:ext cx="3657600" cy="548640"/>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Donut chart → </a:t>
            </a:r>
            <a:r>
              <a:rPr lang="en-US" sz="1500" dirty="0">
                <a:solidFill>
                  <a:srgbClr val="FFFFFF"/>
                </a:solidFill>
                <a:latin typeface="Trebuchet MS" pitchFamily="34" charset="0"/>
                <a:ea typeface="Trebuchet MS" pitchFamily="34" charset="-122"/>
                <a:cs typeface="Trebuchet MS" pitchFamily="34" charset="-120"/>
              </a:rPr>
              <a:t>Shows Percentage contribution of each genre to total revenue</a:t>
            </a:r>
            <a:endParaRPr lang="en-US" sz="1500" dirty="0"/>
          </a:p>
        </p:txBody>
      </p:sp>
      <p:sp>
        <p:nvSpPr>
          <p:cNvPr id="6" name="Text 3"/>
          <p:cNvSpPr/>
          <p:nvPr/>
        </p:nvSpPr>
        <p:spPr>
          <a:xfrm>
            <a:off x="5212080" y="1645920"/>
            <a:ext cx="3657600" cy="640080"/>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Legend: Genre Combination</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Values: % of Total Revenue</a:t>
            </a:r>
            <a:endParaRPr lang="en-US" sz="1400" dirty="0"/>
          </a:p>
        </p:txBody>
      </p:sp>
      <p:sp>
        <p:nvSpPr>
          <p:cNvPr id="7" name="Shape 4"/>
          <p:cNvSpPr/>
          <p:nvPr/>
        </p:nvSpPr>
        <p:spPr>
          <a:xfrm>
            <a:off x="5212080" y="2468880"/>
            <a:ext cx="3566160" cy="502920"/>
          </a:xfrm>
          <a:prstGeom prst="rect">
            <a:avLst/>
          </a:prstGeom>
          <a:solidFill>
            <a:srgbClr val="1A5555"/>
          </a:solidFill>
          <a:ln w="12700">
            <a:solidFill>
              <a:srgbClr val="2A7070"/>
            </a:solidFill>
            <a:prstDash val="solid"/>
          </a:ln>
        </p:spPr>
      </p:sp>
      <p:sp>
        <p:nvSpPr>
          <p:cNvPr id="8" name="Text 5"/>
          <p:cNvSpPr/>
          <p:nvPr/>
        </p:nvSpPr>
        <p:spPr>
          <a:xfrm>
            <a:off x="5349240" y="2542032"/>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22% </a:t>
            </a:r>
            <a:r>
              <a:rPr lang="en-US" sz="1300" dirty="0">
                <a:solidFill>
                  <a:srgbClr val="FFFFFF"/>
                </a:solidFill>
                <a:latin typeface="Trebuchet MS" pitchFamily="34" charset="0"/>
                <a:ea typeface="Trebuchet MS" pitchFamily="34" charset="-122"/>
                <a:cs typeface="Trebuchet MS" pitchFamily="34" charset="-120"/>
              </a:rPr>
              <a:t>Action+Adventure+Sci-Fi</a:t>
            </a:r>
            <a:endParaRPr lang="en-US" sz="1600" dirty="0"/>
          </a:p>
        </p:txBody>
      </p:sp>
      <p:sp>
        <p:nvSpPr>
          <p:cNvPr id="9" name="Shape 6"/>
          <p:cNvSpPr/>
          <p:nvPr/>
        </p:nvSpPr>
        <p:spPr>
          <a:xfrm>
            <a:off x="5212080" y="3090672"/>
            <a:ext cx="3566160" cy="502920"/>
          </a:xfrm>
          <a:prstGeom prst="rect">
            <a:avLst/>
          </a:prstGeom>
          <a:solidFill>
            <a:srgbClr val="1A5555"/>
          </a:solidFill>
          <a:ln w="12700">
            <a:solidFill>
              <a:srgbClr val="2A7070"/>
            </a:solidFill>
            <a:prstDash val="solid"/>
          </a:ln>
        </p:spPr>
      </p:sp>
      <p:sp>
        <p:nvSpPr>
          <p:cNvPr id="10" name="Text 7"/>
          <p:cNvSpPr/>
          <p:nvPr/>
        </p:nvSpPr>
        <p:spPr>
          <a:xfrm>
            <a:off x="5349240" y="3163824"/>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18% </a:t>
            </a:r>
            <a:r>
              <a:rPr lang="en-US" sz="1300" dirty="0">
                <a:solidFill>
                  <a:srgbClr val="FFFFFF"/>
                </a:solidFill>
                <a:latin typeface="Trebuchet MS" pitchFamily="34" charset="0"/>
                <a:ea typeface="Trebuchet MS" pitchFamily="34" charset="-122"/>
                <a:cs typeface="Trebuchet MS" pitchFamily="34" charset="-120"/>
              </a:rPr>
              <a:t>Adventure+Sci-Fi</a:t>
            </a:r>
            <a:endParaRPr lang="en-US" sz="1600" dirty="0"/>
          </a:p>
        </p:txBody>
      </p:sp>
      <p:sp>
        <p:nvSpPr>
          <p:cNvPr id="11" name="Shape 8"/>
          <p:cNvSpPr/>
          <p:nvPr/>
        </p:nvSpPr>
        <p:spPr>
          <a:xfrm>
            <a:off x="5212080" y="3712464"/>
            <a:ext cx="3566160" cy="502920"/>
          </a:xfrm>
          <a:prstGeom prst="rect">
            <a:avLst/>
          </a:prstGeom>
          <a:solidFill>
            <a:srgbClr val="1A5555"/>
          </a:solidFill>
          <a:ln w="12700">
            <a:solidFill>
              <a:srgbClr val="2A7070"/>
            </a:solidFill>
            <a:prstDash val="solid"/>
          </a:ln>
        </p:spPr>
      </p:sp>
      <p:sp>
        <p:nvSpPr>
          <p:cNvPr id="12" name="Text 9"/>
          <p:cNvSpPr/>
          <p:nvPr/>
        </p:nvSpPr>
        <p:spPr>
          <a:xfrm>
            <a:off x="5349240" y="3785616"/>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15% </a:t>
            </a:r>
            <a:r>
              <a:rPr lang="en-US" sz="1300" dirty="0">
                <a:solidFill>
                  <a:srgbClr val="FFFFFF"/>
                </a:solidFill>
                <a:latin typeface="Trebuchet MS" pitchFamily="34" charset="0"/>
                <a:ea typeface="Trebuchet MS" pitchFamily="34" charset="-122"/>
                <a:cs typeface="Trebuchet MS" pitchFamily="34" charset="-120"/>
              </a:rPr>
              <a:t>Drama+Romance</a:t>
            </a:r>
            <a:endParaRPr lang="en-US" sz="1600" dirty="0"/>
          </a:p>
        </p:txBody>
      </p:sp>
      <p:sp>
        <p:nvSpPr>
          <p:cNvPr id="13" name="Shape 10"/>
          <p:cNvSpPr/>
          <p:nvPr/>
        </p:nvSpPr>
        <p:spPr>
          <a:xfrm>
            <a:off x="5212080" y="4334256"/>
            <a:ext cx="3566160" cy="502920"/>
          </a:xfrm>
          <a:prstGeom prst="rect">
            <a:avLst/>
          </a:prstGeom>
          <a:solidFill>
            <a:srgbClr val="1A5555"/>
          </a:solidFill>
          <a:ln w="12700">
            <a:solidFill>
              <a:srgbClr val="2A7070"/>
            </a:solidFill>
            <a:prstDash val="solid"/>
          </a:ln>
        </p:spPr>
      </p:sp>
      <p:sp>
        <p:nvSpPr>
          <p:cNvPr id="14" name="Text 11"/>
          <p:cNvSpPr/>
          <p:nvPr/>
        </p:nvSpPr>
        <p:spPr>
          <a:xfrm>
            <a:off x="5349240" y="4407408"/>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13% </a:t>
            </a:r>
            <a:r>
              <a:rPr lang="en-US" sz="1300" dirty="0">
                <a:solidFill>
                  <a:srgbClr val="FFFFFF"/>
                </a:solidFill>
                <a:latin typeface="Trebuchet MS" pitchFamily="34" charset="0"/>
                <a:ea typeface="Trebuchet MS" pitchFamily="34" charset="-122"/>
                <a:cs typeface="Trebuchet MS" pitchFamily="34" charset="-120"/>
              </a:rPr>
              <a:t>Adventure+Action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Identify Top Genres by Revenue</a:t>
            </a:r>
            <a:endParaRPr lang="en-US" sz="3200" dirty="0"/>
          </a:p>
        </p:txBody>
      </p:sp>
      <p:sp>
        <p:nvSpPr>
          <p:cNvPr id="5" name="Text 2"/>
          <p:cNvSpPr/>
          <p:nvPr/>
        </p:nvSpPr>
        <p:spPr>
          <a:xfrm>
            <a:off x="365760" y="4846320"/>
            <a:ext cx="8412480" cy="27432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Stacked bar chart → </a:t>
            </a:r>
            <a:r>
              <a:rPr lang="en-US" sz="1300" dirty="0">
                <a:solidFill>
                  <a:srgbClr val="C8E0DC"/>
                </a:solidFill>
                <a:latin typeface="Trebuchet MS" pitchFamily="34" charset="0"/>
                <a:ea typeface="Trebuchet MS" pitchFamily="34" charset="-122"/>
                <a:cs typeface="Trebuchet MS" pitchFamily="34" charset="-120"/>
              </a:rPr>
              <a:t>Horizontal bars for easy comparison across genres.  Y-axis: Genre Name  |  X-axis: Total Revenue (bn)</a:t>
            </a:r>
            <a:endParaRPr lang="en-US" sz="1400" dirty="0"/>
          </a:p>
        </p:txBody>
      </p:sp>
      <p:pic>
        <p:nvPicPr>
          <p:cNvPr id="6" name="Picture 5">
            <a:extLst>
              <a:ext uri="{FF2B5EF4-FFF2-40B4-BE49-F238E27FC236}">
                <a16:creationId xmlns:a16="http://schemas.microsoft.com/office/drawing/2014/main" id="{6802EE9E-FD81-4C82-98F6-852FE7BE6D82}"/>
              </a:ext>
            </a:extLst>
          </p:cNvPr>
          <p:cNvPicPr>
            <a:picLocks noChangeAspect="1"/>
          </p:cNvPicPr>
          <p:nvPr/>
        </p:nvPicPr>
        <p:blipFill>
          <a:blip r:embed="rId3"/>
          <a:stretch>
            <a:fillRect/>
          </a:stretch>
        </p:blipFill>
        <p:spPr>
          <a:xfrm>
            <a:off x="515258" y="868680"/>
            <a:ext cx="7620000" cy="37033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Distribution of Movies by Status</a:t>
            </a:r>
            <a:endParaRPr lang="en-US" sz="3200" dirty="0"/>
          </a:p>
        </p:txBody>
      </p:sp>
      <p:graphicFrame>
        <p:nvGraphicFramePr>
          <p:cNvPr id="4" name="Chart 0"/>
          <p:cNvGraphicFramePr/>
          <p:nvPr/>
        </p:nvGraphicFramePr>
        <p:xfrm>
          <a:off x="365760" y="914400"/>
          <a:ext cx="5029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0" y="1005840"/>
            <a:ext cx="3200400" cy="6400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Donut chart: </a:t>
            </a:r>
            <a:r>
              <a:rPr lang="en-US" sz="1400" dirty="0">
                <a:solidFill>
                  <a:srgbClr val="FFFFFF"/>
                </a:solidFill>
                <a:latin typeface="Trebuchet MS" pitchFamily="34" charset="0"/>
                <a:ea typeface="Trebuchet MS" pitchFamily="34" charset="-122"/>
                <a:cs typeface="Trebuchet MS" pitchFamily="34" charset="-120"/>
              </a:rPr>
              <a:t>Shows customer demand and distribution of movies across production stages.</a:t>
            </a:r>
            <a:endParaRPr lang="en-US" sz="1400" dirty="0"/>
          </a:p>
        </p:txBody>
      </p:sp>
      <p:sp>
        <p:nvSpPr>
          <p:cNvPr id="6" name="Text 3"/>
          <p:cNvSpPr/>
          <p:nvPr/>
        </p:nvSpPr>
        <p:spPr>
          <a:xfrm>
            <a:off x="5669280" y="1737360"/>
            <a:ext cx="3200400" cy="640080"/>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X-Axis: Status Category</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Y-Axis: Number of Movies</a:t>
            </a:r>
            <a:endParaRPr lang="en-US" sz="1400" dirty="0"/>
          </a:p>
        </p:txBody>
      </p:sp>
      <p:sp>
        <p:nvSpPr>
          <p:cNvPr id="7" name="Shape 4"/>
          <p:cNvSpPr/>
          <p:nvPr/>
        </p:nvSpPr>
        <p:spPr>
          <a:xfrm>
            <a:off x="5669280" y="2560320"/>
            <a:ext cx="3200400" cy="640080"/>
          </a:xfrm>
          <a:prstGeom prst="rect">
            <a:avLst/>
          </a:prstGeom>
          <a:solidFill>
            <a:srgbClr val="1A5555"/>
          </a:solidFill>
          <a:ln w="12700">
            <a:solidFill>
              <a:srgbClr val="2A7070"/>
            </a:solidFill>
            <a:prstDash val="solid"/>
          </a:ln>
        </p:spPr>
      </p:sp>
      <p:sp>
        <p:nvSpPr>
          <p:cNvPr id="8" name="Text 5"/>
          <p:cNvSpPr/>
          <p:nvPr/>
        </p:nvSpPr>
        <p:spPr>
          <a:xfrm>
            <a:off x="5806440" y="2606040"/>
            <a:ext cx="2926080" cy="274320"/>
          </a:xfrm>
          <a:prstGeom prst="rect">
            <a:avLst/>
          </a:prstGeom>
          <a:noFill/>
          <a:ln/>
        </p:spPr>
        <p:txBody>
          <a:bodyPr wrap="square" lIns="0" tIns="0" rIns="0" bIns="0" rtlCol="0" anchor="ctr"/>
          <a:lstStyle/>
          <a:p>
            <a:pPr marL="0" indent="0">
              <a:buNone/>
            </a:pPr>
            <a:r>
              <a:rPr lang="en-US" sz="1700" b="1" dirty="0">
                <a:solidFill>
                  <a:srgbClr val="F59E0B"/>
                </a:solidFill>
                <a:latin typeface="Trebuchet MS" pitchFamily="34" charset="0"/>
                <a:ea typeface="Trebuchet MS" pitchFamily="34" charset="-122"/>
                <a:cs typeface="Trebuchet MS" pitchFamily="34" charset="-120"/>
              </a:rPr>
              <a:t>98%</a:t>
            </a:r>
            <a:endParaRPr lang="en-US" sz="1700" dirty="0"/>
          </a:p>
        </p:txBody>
      </p:sp>
      <p:sp>
        <p:nvSpPr>
          <p:cNvPr id="9" name="Text 6"/>
          <p:cNvSpPr/>
          <p:nvPr/>
        </p:nvSpPr>
        <p:spPr>
          <a:xfrm>
            <a:off x="5806440" y="2852928"/>
            <a:ext cx="2926080" cy="256032"/>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Released — dominates</a:t>
            </a:r>
            <a:endParaRPr lang="en-US" sz="1200" dirty="0"/>
          </a:p>
        </p:txBody>
      </p:sp>
      <p:sp>
        <p:nvSpPr>
          <p:cNvPr id="10" name="Shape 7"/>
          <p:cNvSpPr/>
          <p:nvPr/>
        </p:nvSpPr>
        <p:spPr>
          <a:xfrm>
            <a:off x="5669280" y="3337560"/>
            <a:ext cx="3200400" cy="640080"/>
          </a:xfrm>
          <a:prstGeom prst="rect">
            <a:avLst/>
          </a:prstGeom>
          <a:solidFill>
            <a:srgbClr val="1A5555"/>
          </a:solidFill>
          <a:ln w="12700">
            <a:solidFill>
              <a:srgbClr val="2A7070"/>
            </a:solidFill>
            <a:prstDash val="solid"/>
          </a:ln>
        </p:spPr>
      </p:sp>
      <p:sp>
        <p:nvSpPr>
          <p:cNvPr id="11" name="Text 8"/>
          <p:cNvSpPr/>
          <p:nvPr/>
        </p:nvSpPr>
        <p:spPr>
          <a:xfrm>
            <a:off x="5806440" y="3383280"/>
            <a:ext cx="2926080" cy="274320"/>
          </a:xfrm>
          <a:prstGeom prst="rect">
            <a:avLst/>
          </a:prstGeom>
          <a:noFill/>
          <a:ln/>
        </p:spPr>
        <p:txBody>
          <a:bodyPr wrap="square" lIns="0" tIns="0" rIns="0" bIns="0" rtlCol="0" anchor="ctr"/>
          <a:lstStyle/>
          <a:p>
            <a:pPr marL="0" indent="0">
              <a:buNone/>
            </a:pPr>
            <a:r>
              <a:rPr lang="en-US" sz="1700" b="1" dirty="0">
                <a:solidFill>
                  <a:srgbClr val="F59E0B"/>
                </a:solidFill>
                <a:latin typeface="Trebuchet MS" pitchFamily="34" charset="0"/>
                <a:ea typeface="Trebuchet MS" pitchFamily="34" charset="-122"/>
                <a:cs typeface="Trebuchet MS" pitchFamily="34" charset="-120"/>
              </a:rPr>
              <a:t>0.81%</a:t>
            </a:r>
            <a:endParaRPr lang="en-US" sz="1700" dirty="0"/>
          </a:p>
        </p:txBody>
      </p:sp>
      <p:sp>
        <p:nvSpPr>
          <p:cNvPr id="12" name="Text 9"/>
          <p:cNvSpPr/>
          <p:nvPr/>
        </p:nvSpPr>
        <p:spPr>
          <a:xfrm>
            <a:off x="5806440" y="3630168"/>
            <a:ext cx="2926080" cy="256032"/>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Still in pipeline</a:t>
            </a:r>
            <a:endParaRPr lang="en-US" sz="1200" dirty="0"/>
          </a:p>
        </p:txBody>
      </p:sp>
      <p:sp>
        <p:nvSpPr>
          <p:cNvPr id="13" name="Shape 10"/>
          <p:cNvSpPr/>
          <p:nvPr/>
        </p:nvSpPr>
        <p:spPr>
          <a:xfrm>
            <a:off x="5669280" y="4114800"/>
            <a:ext cx="3200400" cy="640080"/>
          </a:xfrm>
          <a:prstGeom prst="rect">
            <a:avLst/>
          </a:prstGeom>
          <a:solidFill>
            <a:srgbClr val="1A5555"/>
          </a:solidFill>
          <a:ln w="12700">
            <a:solidFill>
              <a:srgbClr val="2A7070"/>
            </a:solidFill>
            <a:prstDash val="solid"/>
          </a:ln>
        </p:spPr>
      </p:sp>
      <p:sp>
        <p:nvSpPr>
          <p:cNvPr id="14" name="Text 11"/>
          <p:cNvSpPr/>
          <p:nvPr/>
        </p:nvSpPr>
        <p:spPr>
          <a:xfrm>
            <a:off x="5806440" y="4160520"/>
            <a:ext cx="2926080" cy="274320"/>
          </a:xfrm>
          <a:prstGeom prst="rect">
            <a:avLst/>
          </a:prstGeom>
          <a:noFill/>
          <a:ln/>
        </p:spPr>
        <p:txBody>
          <a:bodyPr wrap="square" lIns="0" tIns="0" rIns="0" bIns="0" rtlCol="0" anchor="ctr"/>
          <a:lstStyle/>
          <a:p>
            <a:pPr marL="0" indent="0">
              <a:buNone/>
            </a:pPr>
            <a:r>
              <a:rPr lang="en-US" sz="1700" b="1" dirty="0">
                <a:solidFill>
                  <a:srgbClr val="F59E0B"/>
                </a:solidFill>
                <a:latin typeface="Trebuchet MS" pitchFamily="34" charset="0"/>
                <a:ea typeface="Trebuchet MS" pitchFamily="34" charset="-122"/>
                <a:cs typeface="Trebuchet MS" pitchFamily="34" charset="-120"/>
              </a:rPr>
              <a:t>&lt;0.2%</a:t>
            </a:r>
            <a:endParaRPr lang="en-US" sz="1700" dirty="0"/>
          </a:p>
        </p:txBody>
      </p:sp>
      <p:sp>
        <p:nvSpPr>
          <p:cNvPr id="15" name="Text 12"/>
          <p:cNvSpPr/>
          <p:nvPr/>
        </p:nvSpPr>
        <p:spPr>
          <a:xfrm>
            <a:off x="5806440" y="4407408"/>
            <a:ext cx="2926080" cy="256032"/>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Canceled / Rumored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Movie Count by Original Language</a:t>
            </a:r>
            <a:endParaRPr lang="en-US" sz="3200" dirty="0"/>
          </a:p>
        </p:txBody>
      </p:sp>
      <p:graphicFrame>
        <p:nvGraphicFramePr>
          <p:cNvPr id="4" name="Chart 0"/>
          <p:cNvGraphicFramePr/>
          <p:nvPr/>
        </p:nvGraphicFramePr>
        <p:xfrm>
          <a:off x="365760" y="914400"/>
          <a:ext cx="84124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343400"/>
            <a:ext cx="8412480" cy="50292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Treemap / Bar chart: </a:t>
            </a:r>
            <a:r>
              <a:rPr lang="en-US" sz="1300" dirty="0">
                <a:solidFill>
                  <a:srgbClr val="C8E0DC"/>
                </a:solidFill>
                <a:latin typeface="Trebuchet MS" pitchFamily="34" charset="0"/>
                <a:ea typeface="Trebuchet MS" pitchFamily="34" charset="-122"/>
                <a:cs typeface="Trebuchet MS" pitchFamily="34" charset="-120"/>
              </a:rPr>
              <a:t>Shows which original language has the highest number of movies.  X-Axis: Language  |  Y-Axis: Movie Count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Identify Orders Based on Adult Classification</a:t>
            </a:r>
            <a:endParaRPr lang="en-US" sz="3200" dirty="0"/>
          </a:p>
        </p:txBody>
      </p:sp>
      <p:graphicFrame>
        <p:nvGraphicFramePr>
          <p:cNvPr id="4" name="Chart 0"/>
          <p:cNvGraphicFramePr/>
          <p:nvPr/>
        </p:nvGraphicFramePr>
        <p:xfrm>
          <a:off x="365760" y="914400"/>
          <a:ext cx="5029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0" y="1005840"/>
            <a:ext cx="3200400" cy="6400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Bar Chart: </a:t>
            </a:r>
            <a:r>
              <a:rPr lang="en-US" sz="1400" dirty="0">
                <a:solidFill>
                  <a:srgbClr val="FFFFFF"/>
                </a:solidFill>
                <a:latin typeface="Trebuchet MS" pitchFamily="34" charset="0"/>
                <a:ea typeface="Trebuchet MS" pitchFamily="34" charset="-122"/>
                <a:cs typeface="Trebuchet MS" pitchFamily="34" charset="-120"/>
              </a:rPr>
              <a:t>Analyses adult vs non-adult content distribution in the dataset.</a:t>
            </a:r>
            <a:endParaRPr lang="en-US" sz="1400" dirty="0"/>
          </a:p>
        </p:txBody>
      </p:sp>
      <p:sp>
        <p:nvSpPr>
          <p:cNvPr id="6" name="Text 3"/>
          <p:cNvSpPr/>
          <p:nvPr/>
        </p:nvSpPr>
        <p:spPr>
          <a:xfrm>
            <a:off x="5669280" y="1691640"/>
            <a:ext cx="3200400" cy="640080"/>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X-Axis: Classification (Adult / Non-Adult)</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Y-Axis: Number of Movies</a:t>
            </a:r>
            <a:endParaRPr lang="en-US" sz="1400" dirty="0"/>
          </a:p>
        </p:txBody>
      </p:sp>
      <p:sp>
        <p:nvSpPr>
          <p:cNvPr id="7" name="Shape 4"/>
          <p:cNvSpPr/>
          <p:nvPr/>
        </p:nvSpPr>
        <p:spPr>
          <a:xfrm>
            <a:off x="5669280" y="2560320"/>
            <a:ext cx="3200400" cy="914400"/>
          </a:xfrm>
          <a:prstGeom prst="rect">
            <a:avLst/>
          </a:prstGeom>
          <a:solidFill>
            <a:srgbClr val="1A5555"/>
          </a:solidFill>
          <a:ln w="12700">
            <a:solidFill>
              <a:srgbClr val="2A7070"/>
            </a:solidFill>
            <a:prstDash val="solid"/>
          </a:ln>
        </p:spPr>
      </p:sp>
      <p:sp>
        <p:nvSpPr>
          <p:cNvPr id="8" name="Text 5"/>
          <p:cNvSpPr/>
          <p:nvPr/>
        </p:nvSpPr>
        <p:spPr>
          <a:xfrm>
            <a:off x="5806440" y="2624328"/>
            <a:ext cx="2926080" cy="365760"/>
          </a:xfrm>
          <a:prstGeom prst="rect">
            <a:avLst/>
          </a:prstGeom>
          <a:noFill/>
          <a:ln/>
        </p:spPr>
        <p:txBody>
          <a:bodyPr wrap="square" lIns="0" tIns="0" rIns="0" bIns="0" rtlCol="0" anchor="ctr"/>
          <a:lstStyle/>
          <a:p>
            <a:pPr marL="0" indent="0">
              <a:buNone/>
            </a:pPr>
            <a:r>
              <a:rPr lang="en-US" sz="2200" b="1" dirty="0">
                <a:solidFill>
                  <a:srgbClr val="F59E0B"/>
                </a:solidFill>
                <a:latin typeface="Trebuchet MS" pitchFamily="34" charset="0"/>
                <a:ea typeface="Trebuchet MS" pitchFamily="34" charset="-122"/>
                <a:cs typeface="Trebuchet MS" pitchFamily="34" charset="-120"/>
              </a:rPr>
              <a:t>50.53%</a:t>
            </a:r>
            <a:endParaRPr lang="en-US" sz="2200" dirty="0"/>
          </a:p>
        </p:txBody>
      </p:sp>
      <p:sp>
        <p:nvSpPr>
          <p:cNvPr id="9" name="Text 6"/>
          <p:cNvSpPr/>
          <p:nvPr/>
        </p:nvSpPr>
        <p:spPr>
          <a:xfrm>
            <a:off x="5806440" y="2971800"/>
            <a:ext cx="292608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Adult content</a:t>
            </a:r>
            <a:endParaRPr lang="en-US" sz="1300" dirty="0"/>
          </a:p>
        </p:txBody>
      </p:sp>
      <p:sp>
        <p:nvSpPr>
          <p:cNvPr id="10" name="Text 7"/>
          <p:cNvSpPr/>
          <p:nvPr/>
        </p:nvSpPr>
        <p:spPr>
          <a:xfrm>
            <a:off x="5806440" y="3200400"/>
            <a:ext cx="2926080" cy="219456"/>
          </a:xfrm>
          <a:prstGeom prst="rect">
            <a:avLst/>
          </a:prstGeom>
          <a:noFill/>
          <a:ln/>
        </p:spPr>
        <p:txBody>
          <a:bodyPr wrap="square" lIns="0" tIns="0" rIns="0" bIns="0" rtlCol="0" anchor="ctr"/>
          <a:lstStyle/>
          <a:p>
            <a:pPr marL="0" indent="0">
              <a:buNone/>
            </a:pPr>
            <a:r>
              <a:rPr lang="en-US" sz="1100" dirty="0">
                <a:solidFill>
                  <a:srgbClr val="C8E0DC"/>
                </a:solidFill>
                <a:latin typeface="Trebuchet MS" pitchFamily="34" charset="0"/>
                <a:ea typeface="Trebuchet MS" pitchFamily="34" charset="-122"/>
                <a:cs typeface="Trebuchet MS" pitchFamily="34" charset="-120"/>
              </a:rPr>
              <a:t>~6M movies</a:t>
            </a:r>
            <a:endParaRPr lang="en-US" sz="1100" dirty="0"/>
          </a:p>
        </p:txBody>
      </p:sp>
      <p:sp>
        <p:nvSpPr>
          <p:cNvPr id="11" name="Shape 8"/>
          <p:cNvSpPr/>
          <p:nvPr/>
        </p:nvSpPr>
        <p:spPr>
          <a:xfrm>
            <a:off x="5669280" y="3657600"/>
            <a:ext cx="3200400" cy="914400"/>
          </a:xfrm>
          <a:prstGeom prst="rect">
            <a:avLst/>
          </a:prstGeom>
          <a:solidFill>
            <a:srgbClr val="1A5555"/>
          </a:solidFill>
          <a:ln w="12700">
            <a:solidFill>
              <a:srgbClr val="2A7070"/>
            </a:solidFill>
            <a:prstDash val="solid"/>
          </a:ln>
        </p:spPr>
      </p:sp>
      <p:sp>
        <p:nvSpPr>
          <p:cNvPr id="12" name="Text 9"/>
          <p:cNvSpPr/>
          <p:nvPr/>
        </p:nvSpPr>
        <p:spPr>
          <a:xfrm>
            <a:off x="5806440" y="3721608"/>
            <a:ext cx="2926080" cy="365760"/>
          </a:xfrm>
          <a:prstGeom prst="rect">
            <a:avLst/>
          </a:prstGeom>
          <a:noFill/>
          <a:ln/>
        </p:spPr>
        <p:txBody>
          <a:bodyPr wrap="square" lIns="0" tIns="0" rIns="0" bIns="0" rtlCol="0" anchor="ctr"/>
          <a:lstStyle/>
          <a:p>
            <a:pPr marL="0" indent="0">
              <a:buNone/>
            </a:pPr>
            <a:r>
              <a:rPr lang="en-US" sz="2200" b="1" dirty="0">
                <a:solidFill>
                  <a:srgbClr val="F59E0B"/>
                </a:solidFill>
                <a:latin typeface="Trebuchet MS" pitchFamily="34" charset="0"/>
                <a:ea typeface="Trebuchet MS" pitchFamily="34" charset="-122"/>
                <a:cs typeface="Trebuchet MS" pitchFamily="34" charset="-120"/>
              </a:rPr>
              <a:t>49.47%</a:t>
            </a:r>
            <a:endParaRPr lang="en-US" sz="2200" dirty="0"/>
          </a:p>
        </p:txBody>
      </p:sp>
      <p:sp>
        <p:nvSpPr>
          <p:cNvPr id="13" name="Text 10"/>
          <p:cNvSpPr/>
          <p:nvPr/>
        </p:nvSpPr>
        <p:spPr>
          <a:xfrm>
            <a:off x="5806440" y="4069080"/>
            <a:ext cx="292608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Non-Adult content</a:t>
            </a:r>
            <a:endParaRPr lang="en-US" sz="1300" dirty="0"/>
          </a:p>
        </p:txBody>
      </p:sp>
      <p:sp>
        <p:nvSpPr>
          <p:cNvPr id="14" name="Text 11"/>
          <p:cNvSpPr/>
          <p:nvPr/>
        </p:nvSpPr>
        <p:spPr>
          <a:xfrm>
            <a:off x="5806440" y="4297680"/>
            <a:ext cx="2926080" cy="219456"/>
          </a:xfrm>
          <a:prstGeom prst="rect">
            <a:avLst/>
          </a:prstGeom>
          <a:noFill/>
          <a:ln/>
        </p:spPr>
        <p:txBody>
          <a:bodyPr wrap="square" lIns="0" tIns="0" rIns="0" bIns="0" rtlCol="0" anchor="ctr"/>
          <a:lstStyle/>
          <a:p>
            <a:pPr marL="0" indent="0">
              <a:buNone/>
            </a:pPr>
            <a:r>
              <a:rPr lang="en-US" sz="1100" dirty="0">
                <a:solidFill>
                  <a:srgbClr val="C8E0DC"/>
                </a:solidFill>
                <a:latin typeface="Trebuchet MS" pitchFamily="34" charset="0"/>
                <a:ea typeface="Trebuchet MS" pitchFamily="34" charset="-122"/>
                <a:cs typeface="Trebuchet MS" pitchFamily="34" charset="-120"/>
              </a:rPr>
              <a:t>~5M movies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Analyse Genre-wise Revenue Trend</a:t>
            </a:r>
            <a:endParaRPr lang="en-US" sz="3200" dirty="0"/>
          </a:p>
        </p:txBody>
      </p:sp>
      <p:graphicFrame>
        <p:nvGraphicFramePr>
          <p:cNvPr id="4" name="Chart 0"/>
          <p:cNvGraphicFramePr/>
          <p:nvPr/>
        </p:nvGraphicFramePr>
        <p:xfrm>
          <a:off x="365760" y="914400"/>
          <a:ext cx="84124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480560"/>
            <a:ext cx="8412480" cy="4114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Line Chart: </a:t>
            </a:r>
            <a:r>
              <a:rPr lang="en-US" sz="1300" dirty="0">
                <a:solidFill>
                  <a:srgbClr val="C8E0DC"/>
                </a:solidFill>
                <a:latin typeface="Trebuchet MS" pitchFamily="34" charset="0"/>
                <a:ea typeface="Trebuchet MS" pitchFamily="34" charset="-122"/>
                <a:cs typeface="Trebuchet MS" pitchFamily="34" charset="-120"/>
              </a:rPr>
              <a:t>These charts show revenue variation across genres and languages.  X-axis: Genre  |  Y-axis: Revenue (bn)  |  Legend: Language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Movie Production by Country</a:t>
            </a:r>
            <a:endParaRPr lang="en-US" sz="3200" dirty="0"/>
          </a:p>
        </p:txBody>
      </p:sp>
      <p:graphicFrame>
        <p:nvGraphicFramePr>
          <p:cNvPr id="4" name="Chart 0"/>
          <p:cNvGraphicFramePr/>
          <p:nvPr/>
        </p:nvGraphicFramePr>
        <p:xfrm>
          <a:off x="365760" y="914400"/>
          <a:ext cx="84124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480560"/>
            <a:ext cx="8412480" cy="4114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Map / Bar Chart: </a:t>
            </a:r>
            <a:r>
              <a:rPr lang="en-US" sz="1300" dirty="0">
                <a:solidFill>
                  <a:srgbClr val="C8E0DC"/>
                </a:solidFill>
                <a:latin typeface="Trebuchet MS" pitchFamily="34" charset="0"/>
                <a:ea typeface="Trebuchet MS" pitchFamily="34" charset="-122"/>
                <a:cs typeface="Trebuchet MS" pitchFamily="34" charset="-120"/>
              </a:rPr>
              <a:t>Shows which countries produce the highest number of movies.  X-Axis: Country  |  Y-Axis: Number of Movies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1371600" y="1828800"/>
            <a:ext cx="6400800" cy="1371600"/>
          </a:xfrm>
          <a:prstGeom prst="rect">
            <a:avLst/>
          </a:prstGeom>
          <a:noFill/>
          <a:ln/>
        </p:spPr>
        <p:txBody>
          <a:bodyPr wrap="square" lIns="0" tIns="0" rIns="0" bIns="0" rtlCol="0" anchor="ctr"/>
          <a:lstStyle/>
          <a:p>
            <a:pPr marL="0" indent="0" algn="ctr">
              <a:buNone/>
            </a:pPr>
            <a:endParaRPr lang="en-US" sz="6000" dirty="0"/>
          </a:p>
        </p:txBody>
      </p:sp>
      <p:sp>
        <p:nvSpPr>
          <p:cNvPr id="5" name="TextBox 4">
            <a:extLst>
              <a:ext uri="{FF2B5EF4-FFF2-40B4-BE49-F238E27FC236}">
                <a16:creationId xmlns:a16="http://schemas.microsoft.com/office/drawing/2014/main" id="{65FE8671-1250-4BC6-AE04-9B3E3AD9388E}"/>
              </a:ext>
            </a:extLst>
          </p:cNvPr>
          <p:cNvSpPr txBox="1"/>
          <p:nvPr/>
        </p:nvSpPr>
        <p:spPr>
          <a:xfrm>
            <a:off x="290285" y="98754"/>
            <a:ext cx="2547257" cy="461665"/>
          </a:xfrm>
          <a:prstGeom prst="rect">
            <a:avLst/>
          </a:prstGeom>
          <a:noFill/>
        </p:spPr>
        <p:txBody>
          <a:bodyPr wrap="square" rtlCol="0">
            <a:spAutoFit/>
          </a:bodyPr>
          <a:lstStyle/>
          <a:p>
            <a:r>
              <a:rPr lang="en-US" sz="2400" dirty="0">
                <a:solidFill>
                  <a:srgbClr val="7030A0"/>
                </a:solidFill>
                <a:latin typeface="Arial Black" panose="020B0A04020102020204" pitchFamily="34" charset="0"/>
              </a:rPr>
              <a:t>DASHBOARD</a:t>
            </a:r>
            <a:r>
              <a:rPr lang="en-US" sz="2400" dirty="0"/>
              <a:t> </a:t>
            </a:r>
            <a:endParaRPr lang="en-IN" sz="2400" dirty="0"/>
          </a:p>
        </p:txBody>
      </p:sp>
      <p:pic>
        <p:nvPicPr>
          <p:cNvPr id="6" name="Picture 5">
            <a:extLst>
              <a:ext uri="{FF2B5EF4-FFF2-40B4-BE49-F238E27FC236}">
                <a16:creationId xmlns:a16="http://schemas.microsoft.com/office/drawing/2014/main" id="{8E3954F4-6EEB-4CA6-9627-06567E69ED20}"/>
              </a:ext>
            </a:extLst>
          </p:cNvPr>
          <p:cNvPicPr>
            <a:picLocks noChangeAspect="1"/>
          </p:cNvPicPr>
          <p:nvPr/>
        </p:nvPicPr>
        <p:blipFill>
          <a:blip r:embed="rId3"/>
          <a:stretch>
            <a:fillRect/>
          </a:stretch>
        </p:blipFill>
        <p:spPr>
          <a:xfrm>
            <a:off x="384409" y="849630"/>
            <a:ext cx="8430407" cy="4013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1371600" y="1828800"/>
            <a:ext cx="6400800" cy="1371600"/>
          </a:xfrm>
          <a:prstGeom prst="rect">
            <a:avLst/>
          </a:prstGeom>
          <a:noFill/>
          <a:ln/>
        </p:spPr>
        <p:txBody>
          <a:bodyPr wrap="square" lIns="0" tIns="0" rIns="0" bIns="0" rtlCol="0" anchor="ctr"/>
          <a:lstStyle/>
          <a:p>
            <a:pPr marL="0" indent="0" algn="ctr">
              <a:buNone/>
            </a:pPr>
            <a:endParaRPr lang="en-US" sz="6000" dirty="0"/>
          </a:p>
        </p:txBody>
      </p:sp>
      <p:pic>
        <p:nvPicPr>
          <p:cNvPr id="4" name="Picture 3">
            <a:extLst>
              <a:ext uri="{FF2B5EF4-FFF2-40B4-BE49-F238E27FC236}">
                <a16:creationId xmlns:a16="http://schemas.microsoft.com/office/drawing/2014/main" id="{BD9622A5-8064-4273-9C85-36910CA5D0BE}"/>
              </a:ext>
            </a:extLst>
          </p:cNvPr>
          <p:cNvPicPr>
            <a:picLocks noChangeAspect="1"/>
          </p:cNvPicPr>
          <p:nvPr/>
        </p:nvPicPr>
        <p:blipFill>
          <a:blip r:embed="rId3"/>
          <a:stretch>
            <a:fillRect/>
          </a:stretch>
        </p:blipFill>
        <p:spPr>
          <a:xfrm>
            <a:off x="515258" y="628266"/>
            <a:ext cx="7895771" cy="4358239"/>
          </a:xfrm>
          <a:prstGeom prst="rect">
            <a:avLst/>
          </a:prstGeom>
        </p:spPr>
      </p:pic>
    </p:spTree>
    <p:extLst>
      <p:ext uri="{BB962C8B-B14F-4D97-AF65-F5344CB8AC3E}">
        <p14:creationId xmlns:p14="http://schemas.microsoft.com/office/powerpoint/2010/main" val="114861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Conclusion</a:t>
            </a:r>
            <a:endParaRPr lang="en-US" sz="3200" dirty="0"/>
          </a:p>
        </p:txBody>
      </p:sp>
      <p:sp>
        <p:nvSpPr>
          <p:cNvPr id="4" name="Text 2"/>
          <p:cNvSpPr/>
          <p:nvPr/>
        </p:nvSpPr>
        <p:spPr>
          <a:xfrm>
            <a:off x="365760" y="914400"/>
            <a:ext cx="8229600" cy="4114800"/>
          </a:xfrm>
          <a:prstGeom prst="rect">
            <a:avLst/>
          </a:prstGeom>
          <a:noFill/>
          <a:ln/>
        </p:spPr>
        <p:txBody>
          <a:bodyPr wrap="square" lIns="0" tIns="0" rIns="0" bIns="0" rtlCol="0" anchor="ctr"/>
          <a:lstStyle/>
          <a:p>
            <a:pPr marL="342900" indent="-342900">
              <a:spcAft>
                <a:spcPts val="1600"/>
              </a:spcAft>
              <a:buSzPct val="100000"/>
              <a:buChar char="►"/>
            </a:pPr>
            <a:r>
              <a:rPr lang="en-US" sz="2400" dirty="0">
                <a:solidFill>
                  <a:schemeClr val="bg1"/>
                </a:solidFill>
              </a:rPr>
              <a:t>The Movie Performance Dashboard analyzes over </a:t>
            </a:r>
            <a:r>
              <a:rPr lang="en-US" sz="2400" b="1" dirty="0">
                <a:solidFill>
                  <a:schemeClr val="bg1"/>
                </a:solidFill>
              </a:rPr>
              <a:t>12,000 movies</a:t>
            </a:r>
            <a:r>
              <a:rPr lang="en-US" sz="2400" dirty="0">
                <a:solidFill>
                  <a:schemeClr val="bg1"/>
                </a:solidFill>
              </a:rPr>
              <a:t> and provides insights into </a:t>
            </a:r>
            <a:r>
              <a:rPr lang="en-US" sz="2400" b="1" dirty="0">
                <a:solidFill>
                  <a:schemeClr val="bg1"/>
                </a:solidFill>
              </a:rPr>
              <a:t>revenue trends, genre performance, and global production</a:t>
            </a:r>
            <a:r>
              <a:rPr lang="en-US" sz="2400" dirty="0">
                <a:solidFill>
                  <a:schemeClr val="bg1"/>
                </a:solidFill>
              </a:rPr>
              <a:t>. The industry shows strong performance with </a:t>
            </a:r>
            <a:r>
              <a:rPr lang="en-US" sz="2400" b="1" dirty="0">
                <a:solidFill>
                  <a:schemeClr val="bg1"/>
                </a:solidFill>
              </a:rPr>
              <a:t>total revenue of 255 billion and total profit of 175 billion</a:t>
            </a:r>
            <a:r>
              <a:rPr lang="en-US" sz="2400" dirty="0">
                <a:solidFill>
                  <a:schemeClr val="bg1"/>
                </a:solidFill>
              </a:rPr>
              <a:t>. Revenue increased steadily from the </a:t>
            </a:r>
            <a:r>
              <a:rPr lang="en-US" sz="2400" b="1" dirty="0">
                <a:solidFill>
                  <a:schemeClr val="bg1"/>
                </a:solidFill>
              </a:rPr>
              <a:t>1990s to the 2010s</a:t>
            </a:r>
            <a:r>
              <a:rPr lang="en-US" sz="2400" dirty="0">
                <a:solidFill>
                  <a:schemeClr val="bg1"/>
                </a:solidFill>
              </a:rPr>
              <a:t>, peaked between </a:t>
            </a:r>
            <a:r>
              <a:rPr lang="en-US" sz="2400" b="1" dirty="0">
                <a:solidFill>
                  <a:schemeClr val="bg1"/>
                </a:solidFill>
              </a:rPr>
              <a:t>2008 and 2012</a:t>
            </a:r>
            <a:r>
              <a:rPr lang="en-US" sz="2400" dirty="0">
                <a:solidFill>
                  <a:schemeClr val="bg1"/>
                </a:solidFill>
              </a:rPr>
              <a:t>, and declined during </a:t>
            </a:r>
            <a:r>
              <a:rPr lang="en-US" sz="2400" b="1" dirty="0">
                <a:solidFill>
                  <a:schemeClr val="bg1"/>
                </a:solidFill>
              </a:rPr>
              <a:t>COVID-19 in 2020</a:t>
            </a:r>
            <a:r>
              <a:rPr lang="en-US" sz="2400" dirty="0">
                <a:solidFill>
                  <a:schemeClr val="bg1"/>
                </a:solidFill>
              </a:rPr>
              <a:t>, followed by signs of recovery. The analysis also shows that </a:t>
            </a:r>
            <a:r>
              <a:rPr lang="en-US" sz="2400" b="1" dirty="0">
                <a:solidFill>
                  <a:schemeClr val="bg1"/>
                </a:solidFill>
              </a:rPr>
              <a:t>multi-genre movies like Action, Adventure, and Sci-Fi generate higher revenue</a:t>
            </a:r>
            <a:r>
              <a:rPr lang="en-US" sz="2400" dirty="0">
                <a:solidFill>
                  <a:schemeClr val="bg1"/>
                </a:solidFill>
              </a:rPr>
              <a:t>, and </a:t>
            </a:r>
            <a:r>
              <a:rPr lang="en-US" sz="2400" b="1" dirty="0">
                <a:solidFill>
                  <a:schemeClr val="bg1"/>
                </a:solidFill>
              </a:rPr>
              <a:t>English language movies earn more compared to other languages</a:t>
            </a:r>
            <a:r>
              <a:rPr lang="en-US" sz="2400" dirty="0">
                <a:solidFill>
                  <a:schemeClr val="bg1"/>
                </a:solidFill>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1371600" y="1828800"/>
            <a:ext cx="6400800" cy="1371600"/>
          </a:xfrm>
          <a:prstGeom prst="rect">
            <a:avLst/>
          </a:prstGeom>
          <a:noFill/>
          <a:ln/>
        </p:spPr>
        <p:txBody>
          <a:bodyPr wrap="square" lIns="0" tIns="0" rIns="0" bIns="0" rtlCol="0" anchor="ctr"/>
          <a:lstStyle/>
          <a:p>
            <a:pPr marL="0" indent="0" algn="ctr">
              <a:buNone/>
            </a:pPr>
            <a:r>
              <a:rPr lang="en-US" sz="6000" b="1" dirty="0">
                <a:solidFill>
                  <a:srgbClr val="FFFFFF"/>
                </a:solidFill>
                <a:latin typeface="Trebuchet MS" pitchFamily="34" charset="0"/>
                <a:ea typeface="Trebuchet MS" pitchFamily="34" charset="-122"/>
                <a:cs typeface="Trebuchet MS" pitchFamily="34" charset="-120"/>
              </a:rPr>
              <a:t>Thank you</a:t>
            </a:r>
            <a:endParaRPr lang="en-US" sz="6000" dirty="0"/>
          </a:p>
        </p:txBody>
      </p:sp>
    </p:spTree>
    <p:extLst>
      <p:ext uri="{BB962C8B-B14F-4D97-AF65-F5344CB8AC3E}">
        <p14:creationId xmlns:p14="http://schemas.microsoft.com/office/powerpoint/2010/main" val="3395039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1292</Words>
  <Application>Microsoft Office PowerPoint</Application>
  <PresentationFormat>On-screen Show (16:9)</PresentationFormat>
  <Paragraphs>168</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Black</vt:lpstr>
      <vt:lpstr>Calibri</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Performance Analysis</dc:title>
  <dc:subject>PptxGenJS Presentation</dc:subject>
  <dc:creator>PptxGenJS</dc:creator>
  <cp:lastModifiedBy>Thiyaga R</cp:lastModifiedBy>
  <cp:revision>9</cp:revision>
  <dcterms:created xsi:type="dcterms:W3CDTF">2026-03-02T09:55:42Z</dcterms:created>
  <dcterms:modified xsi:type="dcterms:W3CDTF">2026-03-06T08:19:22Z</dcterms:modified>
</cp:coreProperties>
</file>